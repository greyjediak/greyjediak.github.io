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handoutMasterIdLst>
    <p:handoutMasterId r:id="rId24"/>
  </p:handoutMasterIdLst>
  <p:sldIdLst>
    <p:sldId id="256" r:id="rId5"/>
    <p:sldId id="257" r:id="rId6"/>
    <p:sldId id="269" r:id="rId7"/>
    <p:sldId id="258" r:id="rId8"/>
    <p:sldId id="270" r:id="rId9"/>
    <p:sldId id="263" r:id="rId10"/>
    <p:sldId id="271" r:id="rId11"/>
    <p:sldId id="264" r:id="rId12"/>
    <p:sldId id="266" r:id="rId13"/>
    <p:sldId id="273" r:id="rId14"/>
    <p:sldId id="272" r:id="rId15"/>
    <p:sldId id="274" r:id="rId16"/>
    <p:sldId id="267" r:id="rId17"/>
    <p:sldId id="261" r:id="rId18"/>
    <p:sldId id="275" r:id="rId19"/>
    <p:sldId id="276" r:id="rId20"/>
    <p:sldId id="277"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47" autoAdjust="0"/>
    <p:restoredTop sz="80904" autoAdjust="0"/>
  </p:normalViewPr>
  <p:slideViewPr>
    <p:cSldViewPr snapToGrid="0">
      <p:cViewPr varScale="1">
        <p:scale>
          <a:sx n="39" d="100"/>
          <a:sy n="39" d="100"/>
        </p:scale>
        <p:origin x="58" y="8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61D46E-F26C-426F-9691-56D92783C21D}" type="doc">
      <dgm:prSet loTypeId="urn:microsoft.com/office/officeart/2008/layout/LinedList" loCatId="list" qsTypeId="urn:microsoft.com/office/officeart/2005/8/quickstyle/simple2" qsCatId="simple" csTypeId="urn:microsoft.com/office/officeart/2005/8/colors/accent3_2" csCatId="accent3" phldr="1"/>
      <dgm:spPr/>
      <dgm:t>
        <a:bodyPr/>
        <a:lstStyle/>
        <a:p>
          <a:endParaRPr lang="en-US"/>
        </a:p>
      </dgm:t>
    </dgm:pt>
    <dgm:pt modelId="{914C7891-57B1-44F7-8161-CD49B5B46993}">
      <dgm:prSet/>
      <dgm:spPr/>
      <dgm:t>
        <a:bodyPr/>
        <a:lstStyle/>
        <a:p>
          <a:r>
            <a:rPr lang="en-US"/>
            <a:t>Coffee quality is subjective, but experts use standardized “cupping scores”, which depend on sensory traits like aroma, flavor, and balance</a:t>
          </a:r>
        </a:p>
      </dgm:t>
    </dgm:pt>
    <dgm:pt modelId="{D91CF084-3790-4E0F-9D14-CA881066AB17}" type="parTrans" cxnId="{8FF63F82-B6EB-4757-9F45-873B0163A70A}">
      <dgm:prSet/>
      <dgm:spPr/>
      <dgm:t>
        <a:bodyPr/>
        <a:lstStyle/>
        <a:p>
          <a:endParaRPr lang="en-US"/>
        </a:p>
      </dgm:t>
    </dgm:pt>
    <dgm:pt modelId="{DF7D3CEE-11D3-489C-B63B-A92A46F454FE}" type="sibTrans" cxnId="{8FF63F82-B6EB-4757-9F45-873B0163A70A}">
      <dgm:prSet/>
      <dgm:spPr/>
      <dgm:t>
        <a:bodyPr/>
        <a:lstStyle/>
        <a:p>
          <a:endParaRPr lang="en-US"/>
        </a:p>
      </dgm:t>
    </dgm:pt>
    <dgm:pt modelId="{B9A35B5B-0C70-4075-8586-8EBDBA0242DB}">
      <dgm:prSet/>
      <dgm:spPr/>
      <dgm:t>
        <a:bodyPr/>
        <a:lstStyle/>
        <a:p>
          <a:r>
            <a:rPr lang="en-US"/>
            <a:t>Today’s Question: Can we predict coffee quality using production data alone?</a:t>
          </a:r>
        </a:p>
      </dgm:t>
    </dgm:pt>
    <dgm:pt modelId="{29C9D974-3F64-4FED-B9D3-343C497218AD}" type="parTrans" cxnId="{C36B2384-93AC-47A8-B454-C79F7B6EB103}">
      <dgm:prSet/>
      <dgm:spPr/>
      <dgm:t>
        <a:bodyPr/>
        <a:lstStyle/>
        <a:p>
          <a:endParaRPr lang="en-US"/>
        </a:p>
      </dgm:t>
    </dgm:pt>
    <dgm:pt modelId="{B05E94E8-DE9D-4FAB-B5D9-104DF5C43A87}" type="sibTrans" cxnId="{C36B2384-93AC-47A8-B454-C79F7B6EB103}">
      <dgm:prSet/>
      <dgm:spPr/>
      <dgm:t>
        <a:bodyPr/>
        <a:lstStyle/>
        <a:p>
          <a:endParaRPr lang="en-US"/>
        </a:p>
      </dgm:t>
    </dgm:pt>
    <dgm:pt modelId="{9436C13B-C54A-457A-8C49-BF75DCB28116}" type="pres">
      <dgm:prSet presAssocID="{7C61D46E-F26C-426F-9691-56D92783C21D}" presName="vert0" presStyleCnt="0">
        <dgm:presLayoutVars>
          <dgm:dir/>
          <dgm:animOne val="branch"/>
          <dgm:animLvl val="lvl"/>
        </dgm:presLayoutVars>
      </dgm:prSet>
      <dgm:spPr/>
    </dgm:pt>
    <dgm:pt modelId="{C32912D3-90CB-4B21-8425-9E5F75FBA934}" type="pres">
      <dgm:prSet presAssocID="{914C7891-57B1-44F7-8161-CD49B5B46993}" presName="thickLine" presStyleLbl="alignNode1" presStyleIdx="0" presStyleCnt="2"/>
      <dgm:spPr/>
    </dgm:pt>
    <dgm:pt modelId="{F4420BD1-F67B-4B7B-ACC5-9870186C5D28}" type="pres">
      <dgm:prSet presAssocID="{914C7891-57B1-44F7-8161-CD49B5B46993}" presName="horz1" presStyleCnt="0"/>
      <dgm:spPr/>
    </dgm:pt>
    <dgm:pt modelId="{A6998938-FDF8-4BBA-A18C-C0C68BF19445}" type="pres">
      <dgm:prSet presAssocID="{914C7891-57B1-44F7-8161-CD49B5B46993}" presName="tx1" presStyleLbl="revTx" presStyleIdx="0" presStyleCnt="2"/>
      <dgm:spPr/>
    </dgm:pt>
    <dgm:pt modelId="{686764EA-B3E1-44FD-9D5E-F0DD331BFFF8}" type="pres">
      <dgm:prSet presAssocID="{914C7891-57B1-44F7-8161-CD49B5B46993}" presName="vert1" presStyleCnt="0"/>
      <dgm:spPr/>
    </dgm:pt>
    <dgm:pt modelId="{A8DD2F9A-FA0F-466A-BE5F-D545211E0B2D}" type="pres">
      <dgm:prSet presAssocID="{B9A35B5B-0C70-4075-8586-8EBDBA0242DB}" presName="thickLine" presStyleLbl="alignNode1" presStyleIdx="1" presStyleCnt="2"/>
      <dgm:spPr/>
    </dgm:pt>
    <dgm:pt modelId="{3BD2C170-62DB-4E9D-814B-608229EC8DCE}" type="pres">
      <dgm:prSet presAssocID="{B9A35B5B-0C70-4075-8586-8EBDBA0242DB}" presName="horz1" presStyleCnt="0"/>
      <dgm:spPr/>
    </dgm:pt>
    <dgm:pt modelId="{E308A292-9F0B-43DF-8743-0315FB96308E}" type="pres">
      <dgm:prSet presAssocID="{B9A35B5B-0C70-4075-8586-8EBDBA0242DB}" presName="tx1" presStyleLbl="revTx" presStyleIdx="1" presStyleCnt="2"/>
      <dgm:spPr/>
    </dgm:pt>
    <dgm:pt modelId="{E3A05CF9-85A2-491B-B901-E4FE8CC4EB92}" type="pres">
      <dgm:prSet presAssocID="{B9A35B5B-0C70-4075-8586-8EBDBA0242DB}" presName="vert1" presStyleCnt="0"/>
      <dgm:spPr/>
    </dgm:pt>
  </dgm:ptLst>
  <dgm:cxnLst>
    <dgm:cxn modelId="{0ADB4750-5A5E-4367-AB63-DA423E5F56D6}" type="presOf" srcId="{B9A35B5B-0C70-4075-8586-8EBDBA0242DB}" destId="{E308A292-9F0B-43DF-8743-0315FB96308E}" srcOrd="0" destOrd="0" presId="urn:microsoft.com/office/officeart/2008/layout/LinedList"/>
    <dgm:cxn modelId="{8FF63F82-B6EB-4757-9F45-873B0163A70A}" srcId="{7C61D46E-F26C-426F-9691-56D92783C21D}" destId="{914C7891-57B1-44F7-8161-CD49B5B46993}" srcOrd="0" destOrd="0" parTransId="{D91CF084-3790-4E0F-9D14-CA881066AB17}" sibTransId="{DF7D3CEE-11D3-489C-B63B-A92A46F454FE}"/>
    <dgm:cxn modelId="{C36B2384-93AC-47A8-B454-C79F7B6EB103}" srcId="{7C61D46E-F26C-426F-9691-56D92783C21D}" destId="{B9A35B5B-0C70-4075-8586-8EBDBA0242DB}" srcOrd="1" destOrd="0" parTransId="{29C9D974-3F64-4FED-B9D3-343C497218AD}" sibTransId="{B05E94E8-DE9D-4FAB-B5D9-104DF5C43A87}"/>
    <dgm:cxn modelId="{06F5869E-4432-4CF6-ACAA-E1ED050EB3B5}" type="presOf" srcId="{7C61D46E-F26C-426F-9691-56D92783C21D}" destId="{9436C13B-C54A-457A-8C49-BF75DCB28116}" srcOrd="0" destOrd="0" presId="urn:microsoft.com/office/officeart/2008/layout/LinedList"/>
    <dgm:cxn modelId="{56F5AD9E-474D-4A53-9179-212F88420114}" type="presOf" srcId="{914C7891-57B1-44F7-8161-CD49B5B46993}" destId="{A6998938-FDF8-4BBA-A18C-C0C68BF19445}" srcOrd="0" destOrd="0" presId="urn:microsoft.com/office/officeart/2008/layout/LinedList"/>
    <dgm:cxn modelId="{BE782775-4D0E-4CF8-B616-8B7C3C3186BC}" type="presParOf" srcId="{9436C13B-C54A-457A-8C49-BF75DCB28116}" destId="{C32912D3-90CB-4B21-8425-9E5F75FBA934}" srcOrd="0" destOrd="0" presId="urn:microsoft.com/office/officeart/2008/layout/LinedList"/>
    <dgm:cxn modelId="{B23FB449-4FFE-4D21-9828-948B85FE0287}" type="presParOf" srcId="{9436C13B-C54A-457A-8C49-BF75DCB28116}" destId="{F4420BD1-F67B-4B7B-ACC5-9870186C5D28}" srcOrd="1" destOrd="0" presId="urn:microsoft.com/office/officeart/2008/layout/LinedList"/>
    <dgm:cxn modelId="{A58FC6FE-F5A3-46BB-9192-10CE97E4156E}" type="presParOf" srcId="{F4420BD1-F67B-4B7B-ACC5-9870186C5D28}" destId="{A6998938-FDF8-4BBA-A18C-C0C68BF19445}" srcOrd="0" destOrd="0" presId="urn:microsoft.com/office/officeart/2008/layout/LinedList"/>
    <dgm:cxn modelId="{E072000A-8B46-46BF-B555-35F57ED326C6}" type="presParOf" srcId="{F4420BD1-F67B-4B7B-ACC5-9870186C5D28}" destId="{686764EA-B3E1-44FD-9D5E-F0DD331BFFF8}" srcOrd="1" destOrd="0" presId="urn:microsoft.com/office/officeart/2008/layout/LinedList"/>
    <dgm:cxn modelId="{BA9B806E-E76B-482A-80BC-8FC91893712E}" type="presParOf" srcId="{9436C13B-C54A-457A-8C49-BF75DCB28116}" destId="{A8DD2F9A-FA0F-466A-BE5F-D545211E0B2D}" srcOrd="2" destOrd="0" presId="urn:microsoft.com/office/officeart/2008/layout/LinedList"/>
    <dgm:cxn modelId="{A4A7B7F1-83F2-4CBC-B542-7106F3DC62F0}" type="presParOf" srcId="{9436C13B-C54A-457A-8C49-BF75DCB28116}" destId="{3BD2C170-62DB-4E9D-814B-608229EC8DCE}" srcOrd="3" destOrd="0" presId="urn:microsoft.com/office/officeart/2008/layout/LinedList"/>
    <dgm:cxn modelId="{E926FE6A-B2BA-4F2A-A7AC-93455BD72973}" type="presParOf" srcId="{3BD2C170-62DB-4E9D-814B-608229EC8DCE}" destId="{E308A292-9F0B-43DF-8743-0315FB96308E}" srcOrd="0" destOrd="0" presId="urn:microsoft.com/office/officeart/2008/layout/LinedList"/>
    <dgm:cxn modelId="{68CA01A4-615B-4B0A-8D46-8141E32E7D4C}" type="presParOf" srcId="{3BD2C170-62DB-4E9D-814B-608229EC8DCE}" destId="{E3A05CF9-85A2-491B-B901-E4FE8CC4EB92}"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773ED6-8DBA-45B0-9BC1-CA7F2C08F1F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273188B-3A2B-4555-AD2D-0A65CFB8FF80}">
      <dgm:prSet/>
      <dgm:spPr/>
      <dgm:t>
        <a:bodyPr/>
        <a:lstStyle/>
        <a:p>
          <a:r>
            <a:rPr lang="en-US" dirty="0"/>
            <a:t>Methods Chosen were Random Forest and </a:t>
          </a:r>
          <a:r>
            <a:rPr lang="en-US" dirty="0" err="1"/>
            <a:t>XGBoost</a:t>
          </a:r>
          <a:r>
            <a:rPr lang="en-US" dirty="0"/>
            <a:t>, which is high-performing.</a:t>
          </a:r>
        </a:p>
      </dgm:t>
    </dgm:pt>
    <dgm:pt modelId="{98B738C6-E4A3-48C2-B725-D105026F875E}" type="parTrans" cxnId="{3E10D56E-1BA7-4801-BC56-0854F7702B22}">
      <dgm:prSet/>
      <dgm:spPr/>
      <dgm:t>
        <a:bodyPr/>
        <a:lstStyle/>
        <a:p>
          <a:endParaRPr lang="en-US"/>
        </a:p>
      </dgm:t>
    </dgm:pt>
    <dgm:pt modelId="{FDDD8ED0-0CD1-40A0-A2C9-68D15098EF51}" type="sibTrans" cxnId="{3E10D56E-1BA7-4801-BC56-0854F7702B22}">
      <dgm:prSet/>
      <dgm:spPr/>
      <dgm:t>
        <a:bodyPr/>
        <a:lstStyle/>
        <a:p>
          <a:endParaRPr lang="en-US"/>
        </a:p>
      </dgm:t>
    </dgm:pt>
    <dgm:pt modelId="{EC33C01F-8469-4908-88A3-104D00E07619}">
      <dgm:prSet/>
      <dgm:spPr/>
      <dgm:t>
        <a:bodyPr/>
        <a:lstStyle/>
        <a:p>
          <a:r>
            <a:rPr lang="en-US" dirty="0"/>
            <a:t>Two different models were used, Regression and Classification models.</a:t>
          </a:r>
        </a:p>
      </dgm:t>
    </dgm:pt>
    <dgm:pt modelId="{1E5FE8CE-4245-4E13-8A30-44FC532B6942}" type="parTrans" cxnId="{CAECC83B-8DF4-4E95-A944-583A0CD3C9E0}">
      <dgm:prSet/>
      <dgm:spPr/>
      <dgm:t>
        <a:bodyPr/>
        <a:lstStyle/>
        <a:p>
          <a:endParaRPr lang="en-US"/>
        </a:p>
      </dgm:t>
    </dgm:pt>
    <dgm:pt modelId="{EE7D35D3-6F70-444B-B475-E6F4A8FB9F1A}" type="sibTrans" cxnId="{CAECC83B-8DF4-4E95-A944-583A0CD3C9E0}">
      <dgm:prSet/>
      <dgm:spPr/>
      <dgm:t>
        <a:bodyPr/>
        <a:lstStyle/>
        <a:p>
          <a:endParaRPr lang="en-US"/>
        </a:p>
      </dgm:t>
    </dgm:pt>
    <dgm:pt modelId="{A22A1D02-9D74-44A4-B22D-D8AA3E3BDD76}">
      <dgm:prSet/>
      <dgm:spPr/>
      <dgm:t>
        <a:bodyPr/>
        <a:lstStyle/>
        <a:p>
          <a:r>
            <a:rPr lang="en-US"/>
            <a:t>In the dataset, two csv’s are included, Arabica and Robusta. Only Arabica was used for clarity.</a:t>
          </a:r>
        </a:p>
      </dgm:t>
    </dgm:pt>
    <dgm:pt modelId="{C86A2C07-6647-42C9-B78F-7FD93FBBBFBA}" type="parTrans" cxnId="{89830949-EB70-4BA5-A182-CBAAD3AAE7C5}">
      <dgm:prSet/>
      <dgm:spPr/>
      <dgm:t>
        <a:bodyPr/>
        <a:lstStyle/>
        <a:p>
          <a:endParaRPr lang="en-US"/>
        </a:p>
      </dgm:t>
    </dgm:pt>
    <dgm:pt modelId="{142F5F20-CA8C-4454-B341-2F59FFAE161E}" type="sibTrans" cxnId="{89830949-EB70-4BA5-A182-CBAAD3AAE7C5}">
      <dgm:prSet/>
      <dgm:spPr/>
      <dgm:t>
        <a:bodyPr/>
        <a:lstStyle/>
        <a:p>
          <a:endParaRPr lang="en-US"/>
        </a:p>
      </dgm:t>
    </dgm:pt>
    <dgm:pt modelId="{ECA660CC-B4E5-4E6E-8A77-6421DC18796C}" type="pres">
      <dgm:prSet presAssocID="{62773ED6-8DBA-45B0-9BC1-CA7F2C08F1F6}" presName="root" presStyleCnt="0">
        <dgm:presLayoutVars>
          <dgm:dir/>
          <dgm:resizeHandles val="exact"/>
        </dgm:presLayoutVars>
      </dgm:prSet>
      <dgm:spPr/>
    </dgm:pt>
    <dgm:pt modelId="{43F173EE-06B7-4D6B-B309-5543986C90C7}" type="pres">
      <dgm:prSet presAssocID="{A273188B-3A2B-4555-AD2D-0A65CFB8FF80}" presName="compNode" presStyleCnt="0"/>
      <dgm:spPr/>
    </dgm:pt>
    <dgm:pt modelId="{10411C5A-3A68-49D1-AC50-62A123A66B70}" type="pres">
      <dgm:prSet presAssocID="{A273188B-3A2B-4555-AD2D-0A65CFB8FF80}" presName="bgRect" presStyleLbl="bgShp" presStyleIdx="0" presStyleCnt="3"/>
      <dgm:spPr/>
    </dgm:pt>
    <dgm:pt modelId="{EBAA3FC2-7660-43BC-A1D5-951E4F039728}" type="pres">
      <dgm:prSet presAssocID="{A273188B-3A2B-4555-AD2D-0A65CFB8FF8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orest scene"/>
        </a:ext>
      </dgm:extLst>
    </dgm:pt>
    <dgm:pt modelId="{3DE9C3F9-C789-4F3D-88EB-DEE670F0F754}" type="pres">
      <dgm:prSet presAssocID="{A273188B-3A2B-4555-AD2D-0A65CFB8FF80}" presName="spaceRect" presStyleCnt="0"/>
      <dgm:spPr/>
    </dgm:pt>
    <dgm:pt modelId="{C93DE5FA-2ED2-4FC5-BDF8-5EDA620952F7}" type="pres">
      <dgm:prSet presAssocID="{A273188B-3A2B-4555-AD2D-0A65CFB8FF80}" presName="parTx" presStyleLbl="revTx" presStyleIdx="0" presStyleCnt="3">
        <dgm:presLayoutVars>
          <dgm:chMax val="0"/>
          <dgm:chPref val="0"/>
        </dgm:presLayoutVars>
      </dgm:prSet>
      <dgm:spPr/>
    </dgm:pt>
    <dgm:pt modelId="{AC6298C3-8488-42AF-B5A0-E521B326EE46}" type="pres">
      <dgm:prSet presAssocID="{FDDD8ED0-0CD1-40A0-A2C9-68D15098EF51}" presName="sibTrans" presStyleCnt="0"/>
      <dgm:spPr/>
    </dgm:pt>
    <dgm:pt modelId="{52F59743-E716-4B71-9ED0-D09F9202A9E7}" type="pres">
      <dgm:prSet presAssocID="{EC33C01F-8469-4908-88A3-104D00E07619}" presName="compNode" presStyleCnt="0"/>
      <dgm:spPr/>
    </dgm:pt>
    <dgm:pt modelId="{7D6147F3-6AEE-4D85-89D7-1DD0E657BCD8}" type="pres">
      <dgm:prSet presAssocID="{EC33C01F-8469-4908-88A3-104D00E07619}" presName="bgRect" presStyleLbl="bgShp" presStyleIdx="1" presStyleCnt="3"/>
      <dgm:spPr/>
    </dgm:pt>
    <dgm:pt modelId="{B065ED3D-E7DC-45EF-8725-72E7C0193CF4}" type="pres">
      <dgm:prSet presAssocID="{EC33C01F-8469-4908-88A3-104D00E07619}"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6CFD7D9F-892B-44AA-BB4B-C383622D0FDF}" type="pres">
      <dgm:prSet presAssocID="{EC33C01F-8469-4908-88A3-104D00E07619}" presName="spaceRect" presStyleCnt="0"/>
      <dgm:spPr/>
    </dgm:pt>
    <dgm:pt modelId="{6518F0E0-32CA-4F22-8F31-7082D810EE06}" type="pres">
      <dgm:prSet presAssocID="{EC33C01F-8469-4908-88A3-104D00E07619}" presName="parTx" presStyleLbl="revTx" presStyleIdx="1" presStyleCnt="3">
        <dgm:presLayoutVars>
          <dgm:chMax val="0"/>
          <dgm:chPref val="0"/>
        </dgm:presLayoutVars>
      </dgm:prSet>
      <dgm:spPr/>
    </dgm:pt>
    <dgm:pt modelId="{6F0D89F8-7E01-407F-9F9B-4E9BF4B8E82F}" type="pres">
      <dgm:prSet presAssocID="{EE7D35D3-6F70-444B-B475-E6F4A8FB9F1A}" presName="sibTrans" presStyleCnt="0"/>
      <dgm:spPr/>
    </dgm:pt>
    <dgm:pt modelId="{6B48CF0B-E9C4-47A6-8887-ADF4F9C64596}" type="pres">
      <dgm:prSet presAssocID="{A22A1D02-9D74-44A4-B22D-D8AA3E3BDD76}" presName="compNode" presStyleCnt="0"/>
      <dgm:spPr/>
    </dgm:pt>
    <dgm:pt modelId="{13963C63-6AEE-4DF5-8BF2-8E916CBE9B86}" type="pres">
      <dgm:prSet presAssocID="{A22A1D02-9D74-44A4-B22D-D8AA3E3BDD76}" presName="bgRect" presStyleLbl="bgShp" presStyleIdx="2" presStyleCnt="3"/>
      <dgm:spPr/>
    </dgm:pt>
    <dgm:pt modelId="{32ACC9CB-422B-4274-B0CB-6C574530DA59}" type="pres">
      <dgm:prSet presAssocID="{A22A1D02-9D74-44A4-B22D-D8AA3E3BDD7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owchart"/>
        </a:ext>
      </dgm:extLst>
    </dgm:pt>
    <dgm:pt modelId="{F4CA3644-8E66-4B16-84F1-E9A3CA748032}" type="pres">
      <dgm:prSet presAssocID="{A22A1D02-9D74-44A4-B22D-D8AA3E3BDD76}" presName="spaceRect" presStyleCnt="0"/>
      <dgm:spPr/>
    </dgm:pt>
    <dgm:pt modelId="{E410970F-806D-4B06-942A-55AEA5EF9E09}" type="pres">
      <dgm:prSet presAssocID="{A22A1D02-9D74-44A4-B22D-D8AA3E3BDD76}" presName="parTx" presStyleLbl="revTx" presStyleIdx="2" presStyleCnt="3">
        <dgm:presLayoutVars>
          <dgm:chMax val="0"/>
          <dgm:chPref val="0"/>
        </dgm:presLayoutVars>
      </dgm:prSet>
      <dgm:spPr/>
    </dgm:pt>
  </dgm:ptLst>
  <dgm:cxnLst>
    <dgm:cxn modelId="{CAECC83B-8DF4-4E95-A944-583A0CD3C9E0}" srcId="{62773ED6-8DBA-45B0-9BC1-CA7F2C08F1F6}" destId="{EC33C01F-8469-4908-88A3-104D00E07619}" srcOrd="1" destOrd="0" parTransId="{1E5FE8CE-4245-4E13-8A30-44FC532B6942}" sibTransId="{EE7D35D3-6F70-444B-B475-E6F4A8FB9F1A}"/>
    <dgm:cxn modelId="{89830949-EB70-4BA5-A182-CBAAD3AAE7C5}" srcId="{62773ED6-8DBA-45B0-9BC1-CA7F2C08F1F6}" destId="{A22A1D02-9D74-44A4-B22D-D8AA3E3BDD76}" srcOrd="2" destOrd="0" parTransId="{C86A2C07-6647-42C9-B78F-7FD93FBBBFBA}" sibTransId="{142F5F20-CA8C-4454-B341-2F59FFAE161E}"/>
    <dgm:cxn modelId="{3E10D56E-1BA7-4801-BC56-0854F7702B22}" srcId="{62773ED6-8DBA-45B0-9BC1-CA7F2C08F1F6}" destId="{A273188B-3A2B-4555-AD2D-0A65CFB8FF80}" srcOrd="0" destOrd="0" parTransId="{98B738C6-E4A3-48C2-B725-D105026F875E}" sibTransId="{FDDD8ED0-0CD1-40A0-A2C9-68D15098EF51}"/>
    <dgm:cxn modelId="{1A71BB7F-B343-4213-9865-B6F643093536}" type="presOf" srcId="{62773ED6-8DBA-45B0-9BC1-CA7F2C08F1F6}" destId="{ECA660CC-B4E5-4E6E-8A77-6421DC18796C}" srcOrd="0" destOrd="0" presId="urn:microsoft.com/office/officeart/2018/2/layout/IconVerticalSolidList"/>
    <dgm:cxn modelId="{540C9282-F755-4447-A013-E51D43E66B8F}" type="presOf" srcId="{A273188B-3A2B-4555-AD2D-0A65CFB8FF80}" destId="{C93DE5FA-2ED2-4FC5-BDF8-5EDA620952F7}" srcOrd="0" destOrd="0" presId="urn:microsoft.com/office/officeart/2018/2/layout/IconVerticalSolidList"/>
    <dgm:cxn modelId="{22B79CBE-8913-45D4-9FC9-AAA4358C5261}" type="presOf" srcId="{A22A1D02-9D74-44A4-B22D-D8AA3E3BDD76}" destId="{E410970F-806D-4B06-942A-55AEA5EF9E09}" srcOrd="0" destOrd="0" presId="urn:microsoft.com/office/officeart/2018/2/layout/IconVerticalSolidList"/>
    <dgm:cxn modelId="{684CC0DE-39DD-47EC-859B-67FC5A74EDF1}" type="presOf" srcId="{EC33C01F-8469-4908-88A3-104D00E07619}" destId="{6518F0E0-32CA-4F22-8F31-7082D810EE06}" srcOrd="0" destOrd="0" presId="urn:microsoft.com/office/officeart/2018/2/layout/IconVerticalSolidList"/>
    <dgm:cxn modelId="{54BBA663-ED56-4EF9-BA4B-AEEE47D4E549}" type="presParOf" srcId="{ECA660CC-B4E5-4E6E-8A77-6421DC18796C}" destId="{43F173EE-06B7-4D6B-B309-5543986C90C7}" srcOrd="0" destOrd="0" presId="urn:microsoft.com/office/officeart/2018/2/layout/IconVerticalSolidList"/>
    <dgm:cxn modelId="{9ABF70F1-CC80-4E61-81C0-652DD93E7AA9}" type="presParOf" srcId="{43F173EE-06B7-4D6B-B309-5543986C90C7}" destId="{10411C5A-3A68-49D1-AC50-62A123A66B70}" srcOrd="0" destOrd="0" presId="urn:microsoft.com/office/officeart/2018/2/layout/IconVerticalSolidList"/>
    <dgm:cxn modelId="{77A24708-F2F7-450F-993E-F1E8ED39D4A9}" type="presParOf" srcId="{43F173EE-06B7-4D6B-B309-5543986C90C7}" destId="{EBAA3FC2-7660-43BC-A1D5-951E4F039728}" srcOrd="1" destOrd="0" presId="urn:microsoft.com/office/officeart/2018/2/layout/IconVerticalSolidList"/>
    <dgm:cxn modelId="{A561BF7F-4EE2-4E0C-B582-F92F174D0263}" type="presParOf" srcId="{43F173EE-06B7-4D6B-B309-5543986C90C7}" destId="{3DE9C3F9-C789-4F3D-88EB-DEE670F0F754}" srcOrd="2" destOrd="0" presId="urn:microsoft.com/office/officeart/2018/2/layout/IconVerticalSolidList"/>
    <dgm:cxn modelId="{FC52CDFF-D718-4547-9EE3-DE07BEB32BCF}" type="presParOf" srcId="{43F173EE-06B7-4D6B-B309-5543986C90C7}" destId="{C93DE5FA-2ED2-4FC5-BDF8-5EDA620952F7}" srcOrd="3" destOrd="0" presId="urn:microsoft.com/office/officeart/2018/2/layout/IconVerticalSolidList"/>
    <dgm:cxn modelId="{92F9E320-163E-4E20-B061-6DB7FB6ED1B0}" type="presParOf" srcId="{ECA660CC-B4E5-4E6E-8A77-6421DC18796C}" destId="{AC6298C3-8488-42AF-B5A0-E521B326EE46}" srcOrd="1" destOrd="0" presId="urn:microsoft.com/office/officeart/2018/2/layout/IconVerticalSolidList"/>
    <dgm:cxn modelId="{652CC426-F438-494A-9787-AE9045357E65}" type="presParOf" srcId="{ECA660CC-B4E5-4E6E-8A77-6421DC18796C}" destId="{52F59743-E716-4B71-9ED0-D09F9202A9E7}" srcOrd="2" destOrd="0" presId="urn:microsoft.com/office/officeart/2018/2/layout/IconVerticalSolidList"/>
    <dgm:cxn modelId="{A619D157-F0EB-4A89-BB34-2EC9B1F91386}" type="presParOf" srcId="{52F59743-E716-4B71-9ED0-D09F9202A9E7}" destId="{7D6147F3-6AEE-4D85-89D7-1DD0E657BCD8}" srcOrd="0" destOrd="0" presId="urn:microsoft.com/office/officeart/2018/2/layout/IconVerticalSolidList"/>
    <dgm:cxn modelId="{9263B754-ABE4-44FC-BCAE-81654D7B8F4A}" type="presParOf" srcId="{52F59743-E716-4B71-9ED0-D09F9202A9E7}" destId="{B065ED3D-E7DC-45EF-8725-72E7C0193CF4}" srcOrd="1" destOrd="0" presId="urn:microsoft.com/office/officeart/2018/2/layout/IconVerticalSolidList"/>
    <dgm:cxn modelId="{D40DB370-8625-4BB2-847C-95A4F7CE6820}" type="presParOf" srcId="{52F59743-E716-4B71-9ED0-D09F9202A9E7}" destId="{6CFD7D9F-892B-44AA-BB4B-C383622D0FDF}" srcOrd="2" destOrd="0" presId="urn:microsoft.com/office/officeart/2018/2/layout/IconVerticalSolidList"/>
    <dgm:cxn modelId="{CF02A20B-9A38-46FD-958E-8E55BCD90514}" type="presParOf" srcId="{52F59743-E716-4B71-9ED0-D09F9202A9E7}" destId="{6518F0E0-32CA-4F22-8F31-7082D810EE06}" srcOrd="3" destOrd="0" presId="urn:microsoft.com/office/officeart/2018/2/layout/IconVerticalSolidList"/>
    <dgm:cxn modelId="{25247A48-67BC-4D3D-8172-23F80E54CBD0}" type="presParOf" srcId="{ECA660CC-B4E5-4E6E-8A77-6421DC18796C}" destId="{6F0D89F8-7E01-407F-9F9B-4E9BF4B8E82F}" srcOrd="3" destOrd="0" presId="urn:microsoft.com/office/officeart/2018/2/layout/IconVerticalSolidList"/>
    <dgm:cxn modelId="{FFC091B5-1C4A-41F3-948C-A26E6EBFF4DC}" type="presParOf" srcId="{ECA660CC-B4E5-4E6E-8A77-6421DC18796C}" destId="{6B48CF0B-E9C4-47A6-8887-ADF4F9C64596}" srcOrd="4" destOrd="0" presId="urn:microsoft.com/office/officeart/2018/2/layout/IconVerticalSolidList"/>
    <dgm:cxn modelId="{8A959CD2-479F-4C16-94C8-3B5B737C79C2}" type="presParOf" srcId="{6B48CF0B-E9C4-47A6-8887-ADF4F9C64596}" destId="{13963C63-6AEE-4DF5-8BF2-8E916CBE9B86}" srcOrd="0" destOrd="0" presId="urn:microsoft.com/office/officeart/2018/2/layout/IconVerticalSolidList"/>
    <dgm:cxn modelId="{48F0BF3C-4C7D-4D40-9F34-F6A04386651D}" type="presParOf" srcId="{6B48CF0B-E9C4-47A6-8887-ADF4F9C64596}" destId="{32ACC9CB-422B-4274-B0CB-6C574530DA59}" srcOrd="1" destOrd="0" presId="urn:microsoft.com/office/officeart/2018/2/layout/IconVerticalSolidList"/>
    <dgm:cxn modelId="{F6BBB442-7E2F-42A0-87D6-A39F164E3940}" type="presParOf" srcId="{6B48CF0B-E9C4-47A6-8887-ADF4F9C64596}" destId="{F4CA3644-8E66-4B16-84F1-E9A3CA748032}" srcOrd="2" destOrd="0" presId="urn:microsoft.com/office/officeart/2018/2/layout/IconVerticalSolidList"/>
    <dgm:cxn modelId="{FFF6B264-DDA7-4972-8273-FA853A599887}" type="presParOf" srcId="{6B48CF0B-E9C4-47A6-8887-ADF4F9C64596}" destId="{E410970F-806D-4B06-942A-55AEA5EF9E0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C915F7A-6AA9-414C-8883-87CC4DDB5A6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74E3B15-89DA-4688-B17A-9935CAB864A7}">
      <dgm:prSet/>
      <dgm:spPr/>
      <dgm:t>
        <a:bodyPr/>
        <a:lstStyle/>
        <a:p>
          <a:r>
            <a:rPr lang="en-US"/>
            <a:t>Can we predict exact coffee scores?</a:t>
          </a:r>
        </a:p>
      </dgm:t>
    </dgm:pt>
    <dgm:pt modelId="{6781849E-1AF4-497C-99C2-5CC069E15CA8}" type="parTrans" cxnId="{B1346FCD-C29A-4281-9155-D497B520AF3F}">
      <dgm:prSet/>
      <dgm:spPr/>
      <dgm:t>
        <a:bodyPr/>
        <a:lstStyle/>
        <a:p>
          <a:endParaRPr lang="en-US"/>
        </a:p>
      </dgm:t>
    </dgm:pt>
    <dgm:pt modelId="{22F837E8-CFC8-4FF5-BB8E-B0F8FFE23157}" type="sibTrans" cxnId="{B1346FCD-C29A-4281-9155-D497B520AF3F}">
      <dgm:prSet/>
      <dgm:spPr/>
      <dgm:t>
        <a:bodyPr/>
        <a:lstStyle/>
        <a:p>
          <a:endParaRPr lang="en-US"/>
        </a:p>
      </dgm:t>
    </dgm:pt>
    <dgm:pt modelId="{CB5F0E86-042D-4662-A4E5-D7621A647DD8}">
      <dgm:prSet/>
      <dgm:spPr/>
      <dgm:t>
        <a:bodyPr/>
        <a:lstStyle/>
        <a:p>
          <a:r>
            <a:rPr lang="en-US"/>
            <a:t>Can we identify high-quality coffee?</a:t>
          </a:r>
        </a:p>
      </dgm:t>
    </dgm:pt>
    <dgm:pt modelId="{45A4327D-869C-4D56-936F-C215FD8DD8E5}" type="parTrans" cxnId="{0AF7671F-7430-41D7-83D3-15B033123C29}">
      <dgm:prSet/>
      <dgm:spPr/>
      <dgm:t>
        <a:bodyPr/>
        <a:lstStyle/>
        <a:p>
          <a:endParaRPr lang="en-US"/>
        </a:p>
      </dgm:t>
    </dgm:pt>
    <dgm:pt modelId="{8B1F5EA9-4FA4-41DC-8E20-0CC27AA2EE9D}" type="sibTrans" cxnId="{0AF7671F-7430-41D7-83D3-15B033123C29}">
      <dgm:prSet/>
      <dgm:spPr/>
      <dgm:t>
        <a:bodyPr/>
        <a:lstStyle/>
        <a:p>
          <a:endParaRPr lang="en-US"/>
        </a:p>
      </dgm:t>
    </dgm:pt>
    <dgm:pt modelId="{A5FBA3A0-1EB5-4720-82A7-B951E17B0138}">
      <dgm:prSet/>
      <dgm:spPr/>
      <dgm:t>
        <a:bodyPr/>
        <a:lstStyle/>
        <a:p>
          <a:r>
            <a:rPr lang="en-US" dirty="0"/>
            <a:t>Which features influence quality the most?</a:t>
          </a:r>
        </a:p>
      </dgm:t>
    </dgm:pt>
    <dgm:pt modelId="{DD5B2367-BBB9-4411-AEFD-B7373E21D6BF}" type="parTrans" cxnId="{991F6297-AF11-48A1-9FC2-EBD4E275134F}">
      <dgm:prSet/>
      <dgm:spPr/>
      <dgm:t>
        <a:bodyPr/>
        <a:lstStyle/>
        <a:p>
          <a:endParaRPr lang="en-US"/>
        </a:p>
      </dgm:t>
    </dgm:pt>
    <dgm:pt modelId="{2856E093-723C-41C2-99D7-D174A3D4C33A}" type="sibTrans" cxnId="{991F6297-AF11-48A1-9FC2-EBD4E275134F}">
      <dgm:prSet/>
      <dgm:spPr/>
      <dgm:t>
        <a:bodyPr/>
        <a:lstStyle/>
        <a:p>
          <a:endParaRPr lang="en-US"/>
        </a:p>
      </dgm:t>
    </dgm:pt>
    <dgm:pt modelId="{AFA60A2D-D02A-4C92-9162-CC047CD1BFAA}">
      <dgm:prSet/>
      <dgm:spPr/>
      <dgm:t>
        <a:bodyPr/>
        <a:lstStyle/>
        <a:p>
          <a:r>
            <a:rPr lang="en-US"/>
            <a:t>Do different models agree with each other?</a:t>
          </a:r>
        </a:p>
      </dgm:t>
    </dgm:pt>
    <dgm:pt modelId="{9128F638-B969-4635-B095-0BDC76D473F7}" type="parTrans" cxnId="{1F174211-C7A0-4694-87C6-A674BDFFABA4}">
      <dgm:prSet/>
      <dgm:spPr/>
      <dgm:t>
        <a:bodyPr/>
        <a:lstStyle/>
        <a:p>
          <a:endParaRPr lang="en-US"/>
        </a:p>
      </dgm:t>
    </dgm:pt>
    <dgm:pt modelId="{8CB4C0CA-5FD8-4E88-B11E-69C2942C7164}" type="sibTrans" cxnId="{1F174211-C7A0-4694-87C6-A674BDFFABA4}">
      <dgm:prSet/>
      <dgm:spPr/>
      <dgm:t>
        <a:bodyPr/>
        <a:lstStyle/>
        <a:p>
          <a:endParaRPr lang="en-US"/>
        </a:p>
      </dgm:t>
    </dgm:pt>
    <dgm:pt modelId="{95562F74-F8C6-4BE2-8726-12173E437C99}" type="pres">
      <dgm:prSet presAssocID="{9C915F7A-6AA9-414C-8883-87CC4DDB5A62}" presName="root" presStyleCnt="0">
        <dgm:presLayoutVars>
          <dgm:dir/>
          <dgm:resizeHandles val="exact"/>
        </dgm:presLayoutVars>
      </dgm:prSet>
      <dgm:spPr/>
    </dgm:pt>
    <dgm:pt modelId="{94FA02E0-884F-4D85-A0FD-F1FFB6AE217E}" type="pres">
      <dgm:prSet presAssocID="{B74E3B15-89DA-4688-B17A-9935CAB864A7}" presName="compNode" presStyleCnt="0"/>
      <dgm:spPr/>
    </dgm:pt>
    <dgm:pt modelId="{AE42CB85-8101-4957-B877-261C05048123}" type="pres">
      <dgm:prSet presAssocID="{B74E3B15-89DA-4688-B17A-9935CAB864A7}" presName="bgRect" presStyleLbl="bgShp" presStyleIdx="0" presStyleCnt="4"/>
      <dgm:spPr/>
    </dgm:pt>
    <dgm:pt modelId="{A4A5A3DD-B0BC-4EC1-B93B-EB17A51177B0}" type="pres">
      <dgm:prSet presAssocID="{B74E3B15-89DA-4688-B17A-9935CAB864A7}"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offee"/>
        </a:ext>
      </dgm:extLst>
    </dgm:pt>
    <dgm:pt modelId="{AE35A616-0F16-4B51-A95B-1C4E62127157}" type="pres">
      <dgm:prSet presAssocID="{B74E3B15-89DA-4688-B17A-9935CAB864A7}" presName="spaceRect" presStyleCnt="0"/>
      <dgm:spPr/>
    </dgm:pt>
    <dgm:pt modelId="{13A09024-2973-4017-BB1F-77B31BF4939D}" type="pres">
      <dgm:prSet presAssocID="{B74E3B15-89DA-4688-B17A-9935CAB864A7}" presName="parTx" presStyleLbl="revTx" presStyleIdx="0" presStyleCnt="4">
        <dgm:presLayoutVars>
          <dgm:chMax val="0"/>
          <dgm:chPref val="0"/>
        </dgm:presLayoutVars>
      </dgm:prSet>
      <dgm:spPr/>
    </dgm:pt>
    <dgm:pt modelId="{51F12A94-EF67-4107-BD7C-B789710F0725}" type="pres">
      <dgm:prSet presAssocID="{22F837E8-CFC8-4FF5-BB8E-B0F8FFE23157}" presName="sibTrans" presStyleCnt="0"/>
      <dgm:spPr/>
    </dgm:pt>
    <dgm:pt modelId="{50A09C12-1AC7-4985-8F66-555DCF01F29E}" type="pres">
      <dgm:prSet presAssocID="{CB5F0E86-042D-4662-A4E5-D7621A647DD8}" presName="compNode" presStyleCnt="0"/>
      <dgm:spPr/>
    </dgm:pt>
    <dgm:pt modelId="{3B15128F-966E-4BB8-AD36-81BCE12E835B}" type="pres">
      <dgm:prSet presAssocID="{CB5F0E86-042D-4662-A4E5-D7621A647DD8}" presName="bgRect" presStyleLbl="bgShp" presStyleIdx="1" presStyleCnt="4"/>
      <dgm:spPr/>
    </dgm:pt>
    <dgm:pt modelId="{766AA3FD-2974-4E53-AB43-5A80B98423DD}" type="pres">
      <dgm:prSet presAssocID="{CB5F0E86-042D-4662-A4E5-D7621A647DD8}"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a"/>
        </a:ext>
      </dgm:extLst>
    </dgm:pt>
    <dgm:pt modelId="{F4353A0C-DE54-432F-94EC-28AB6C048315}" type="pres">
      <dgm:prSet presAssocID="{CB5F0E86-042D-4662-A4E5-D7621A647DD8}" presName="spaceRect" presStyleCnt="0"/>
      <dgm:spPr/>
    </dgm:pt>
    <dgm:pt modelId="{4E2DABFB-36C5-4485-8112-055AE6B34123}" type="pres">
      <dgm:prSet presAssocID="{CB5F0E86-042D-4662-A4E5-D7621A647DD8}" presName="parTx" presStyleLbl="revTx" presStyleIdx="1" presStyleCnt="4">
        <dgm:presLayoutVars>
          <dgm:chMax val="0"/>
          <dgm:chPref val="0"/>
        </dgm:presLayoutVars>
      </dgm:prSet>
      <dgm:spPr/>
    </dgm:pt>
    <dgm:pt modelId="{CF9BE960-6E22-4C88-95A9-B656C8996F3F}" type="pres">
      <dgm:prSet presAssocID="{8B1F5EA9-4FA4-41DC-8E20-0CC27AA2EE9D}" presName="sibTrans" presStyleCnt="0"/>
      <dgm:spPr/>
    </dgm:pt>
    <dgm:pt modelId="{699EA8B4-7479-46BB-B84A-10AB8A621470}" type="pres">
      <dgm:prSet presAssocID="{A5FBA3A0-1EB5-4720-82A7-B951E17B0138}" presName="compNode" presStyleCnt="0"/>
      <dgm:spPr/>
    </dgm:pt>
    <dgm:pt modelId="{B4A35F0A-64C9-47C4-A114-79ED1750782E}" type="pres">
      <dgm:prSet presAssocID="{A5FBA3A0-1EB5-4720-82A7-B951E17B0138}" presName="bgRect" presStyleLbl="bgShp" presStyleIdx="2" presStyleCnt="4"/>
      <dgm:spPr/>
    </dgm:pt>
    <dgm:pt modelId="{D35DD2F7-C085-446F-92D7-85046204B6D9}" type="pres">
      <dgm:prSet presAssocID="{A5FBA3A0-1EB5-4720-82A7-B951E17B0138}"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heckmark"/>
        </a:ext>
      </dgm:extLst>
    </dgm:pt>
    <dgm:pt modelId="{73131474-7FDF-49ED-A221-2DBA4CA3EF7F}" type="pres">
      <dgm:prSet presAssocID="{A5FBA3A0-1EB5-4720-82A7-B951E17B0138}" presName="spaceRect" presStyleCnt="0"/>
      <dgm:spPr/>
    </dgm:pt>
    <dgm:pt modelId="{817F7517-B5D8-456C-83C9-8836A4EB9A33}" type="pres">
      <dgm:prSet presAssocID="{A5FBA3A0-1EB5-4720-82A7-B951E17B0138}" presName="parTx" presStyleLbl="revTx" presStyleIdx="2" presStyleCnt="4">
        <dgm:presLayoutVars>
          <dgm:chMax val="0"/>
          <dgm:chPref val="0"/>
        </dgm:presLayoutVars>
      </dgm:prSet>
      <dgm:spPr/>
    </dgm:pt>
    <dgm:pt modelId="{1F6CFD44-D129-4A8A-83DF-3087475224B6}" type="pres">
      <dgm:prSet presAssocID="{2856E093-723C-41C2-99D7-D174A3D4C33A}" presName="sibTrans" presStyleCnt="0"/>
      <dgm:spPr/>
    </dgm:pt>
    <dgm:pt modelId="{3C871874-10FF-46C4-90F2-9A0175BDE56D}" type="pres">
      <dgm:prSet presAssocID="{AFA60A2D-D02A-4C92-9162-CC047CD1BFAA}" presName="compNode" presStyleCnt="0"/>
      <dgm:spPr/>
    </dgm:pt>
    <dgm:pt modelId="{B57F3DB9-5A00-4DFB-BC09-3F65707021B0}" type="pres">
      <dgm:prSet presAssocID="{AFA60A2D-D02A-4C92-9162-CC047CD1BFAA}" presName="bgRect" presStyleLbl="bgShp" presStyleIdx="3" presStyleCnt="4"/>
      <dgm:spPr/>
    </dgm:pt>
    <dgm:pt modelId="{E260A34D-73DD-4B63-A4AD-24FEEF05D611}" type="pres">
      <dgm:prSet presAssocID="{AFA60A2D-D02A-4C92-9162-CC047CD1BFAA}"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F0BDC032-801A-4830-A4F0-24875DDF8941}" type="pres">
      <dgm:prSet presAssocID="{AFA60A2D-D02A-4C92-9162-CC047CD1BFAA}" presName="spaceRect" presStyleCnt="0"/>
      <dgm:spPr/>
    </dgm:pt>
    <dgm:pt modelId="{B39BF89B-5637-4F23-A32B-8097A0824F84}" type="pres">
      <dgm:prSet presAssocID="{AFA60A2D-D02A-4C92-9162-CC047CD1BFAA}" presName="parTx" presStyleLbl="revTx" presStyleIdx="3" presStyleCnt="4">
        <dgm:presLayoutVars>
          <dgm:chMax val="0"/>
          <dgm:chPref val="0"/>
        </dgm:presLayoutVars>
      </dgm:prSet>
      <dgm:spPr/>
    </dgm:pt>
  </dgm:ptLst>
  <dgm:cxnLst>
    <dgm:cxn modelId="{1F174211-C7A0-4694-87C6-A674BDFFABA4}" srcId="{9C915F7A-6AA9-414C-8883-87CC4DDB5A62}" destId="{AFA60A2D-D02A-4C92-9162-CC047CD1BFAA}" srcOrd="3" destOrd="0" parTransId="{9128F638-B969-4635-B095-0BDC76D473F7}" sibTransId="{8CB4C0CA-5FD8-4E88-B11E-69C2942C7164}"/>
    <dgm:cxn modelId="{0AF7671F-7430-41D7-83D3-15B033123C29}" srcId="{9C915F7A-6AA9-414C-8883-87CC4DDB5A62}" destId="{CB5F0E86-042D-4662-A4E5-D7621A647DD8}" srcOrd="1" destOrd="0" parTransId="{45A4327D-869C-4D56-936F-C215FD8DD8E5}" sibTransId="{8B1F5EA9-4FA4-41DC-8E20-0CC27AA2EE9D}"/>
    <dgm:cxn modelId="{28D72422-4CEC-42E5-B967-C05555449568}" type="presOf" srcId="{AFA60A2D-D02A-4C92-9162-CC047CD1BFAA}" destId="{B39BF89B-5637-4F23-A32B-8097A0824F84}" srcOrd="0" destOrd="0" presId="urn:microsoft.com/office/officeart/2018/2/layout/IconVerticalSolidList"/>
    <dgm:cxn modelId="{991F6297-AF11-48A1-9FC2-EBD4E275134F}" srcId="{9C915F7A-6AA9-414C-8883-87CC4DDB5A62}" destId="{A5FBA3A0-1EB5-4720-82A7-B951E17B0138}" srcOrd="2" destOrd="0" parTransId="{DD5B2367-BBB9-4411-AEFD-B7373E21D6BF}" sibTransId="{2856E093-723C-41C2-99D7-D174A3D4C33A}"/>
    <dgm:cxn modelId="{8B69F797-C990-4665-8817-F4ACDCBCF38E}" type="presOf" srcId="{CB5F0E86-042D-4662-A4E5-D7621A647DD8}" destId="{4E2DABFB-36C5-4485-8112-055AE6B34123}" srcOrd="0" destOrd="0" presId="urn:microsoft.com/office/officeart/2018/2/layout/IconVerticalSolidList"/>
    <dgm:cxn modelId="{8160549D-2958-4C48-9D49-A682064A943D}" type="presOf" srcId="{9C915F7A-6AA9-414C-8883-87CC4DDB5A62}" destId="{95562F74-F8C6-4BE2-8726-12173E437C99}" srcOrd="0" destOrd="0" presId="urn:microsoft.com/office/officeart/2018/2/layout/IconVerticalSolidList"/>
    <dgm:cxn modelId="{B1346FCD-C29A-4281-9155-D497B520AF3F}" srcId="{9C915F7A-6AA9-414C-8883-87CC4DDB5A62}" destId="{B74E3B15-89DA-4688-B17A-9935CAB864A7}" srcOrd="0" destOrd="0" parTransId="{6781849E-1AF4-497C-99C2-5CC069E15CA8}" sibTransId="{22F837E8-CFC8-4FF5-BB8E-B0F8FFE23157}"/>
    <dgm:cxn modelId="{589487DA-7B6C-460E-B975-044767FF35D9}" type="presOf" srcId="{B74E3B15-89DA-4688-B17A-9935CAB864A7}" destId="{13A09024-2973-4017-BB1F-77B31BF4939D}" srcOrd="0" destOrd="0" presId="urn:microsoft.com/office/officeart/2018/2/layout/IconVerticalSolidList"/>
    <dgm:cxn modelId="{76D83FFC-0D0B-4FEC-904A-6D8551473502}" type="presOf" srcId="{A5FBA3A0-1EB5-4720-82A7-B951E17B0138}" destId="{817F7517-B5D8-456C-83C9-8836A4EB9A33}" srcOrd="0" destOrd="0" presId="urn:microsoft.com/office/officeart/2018/2/layout/IconVerticalSolidList"/>
    <dgm:cxn modelId="{A11BE140-7F5C-4CD3-8984-9CE40CE89CD3}" type="presParOf" srcId="{95562F74-F8C6-4BE2-8726-12173E437C99}" destId="{94FA02E0-884F-4D85-A0FD-F1FFB6AE217E}" srcOrd="0" destOrd="0" presId="urn:microsoft.com/office/officeart/2018/2/layout/IconVerticalSolidList"/>
    <dgm:cxn modelId="{C61F90B7-C68F-412E-835F-F7B3544B98ED}" type="presParOf" srcId="{94FA02E0-884F-4D85-A0FD-F1FFB6AE217E}" destId="{AE42CB85-8101-4957-B877-261C05048123}" srcOrd="0" destOrd="0" presId="urn:microsoft.com/office/officeart/2018/2/layout/IconVerticalSolidList"/>
    <dgm:cxn modelId="{5AD6F1DF-925D-4EB2-98B0-0F1BAEC530A9}" type="presParOf" srcId="{94FA02E0-884F-4D85-A0FD-F1FFB6AE217E}" destId="{A4A5A3DD-B0BC-4EC1-B93B-EB17A51177B0}" srcOrd="1" destOrd="0" presId="urn:microsoft.com/office/officeart/2018/2/layout/IconVerticalSolidList"/>
    <dgm:cxn modelId="{098A3F50-D728-41DF-82AE-4BAA905B2129}" type="presParOf" srcId="{94FA02E0-884F-4D85-A0FD-F1FFB6AE217E}" destId="{AE35A616-0F16-4B51-A95B-1C4E62127157}" srcOrd="2" destOrd="0" presId="urn:microsoft.com/office/officeart/2018/2/layout/IconVerticalSolidList"/>
    <dgm:cxn modelId="{4C2B0F00-28D1-47F0-99CA-750BAF994B66}" type="presParOf" srcId="{94FA02E0-884F-4D85-A0FD-F1FFB6AE217E}" destId="{13A09024-2973-4017-BB1F-77B31BF4939D}" srcOrd="3" destOrd="0" presId="urn:microsoft.com/office/officeart/2018/2/layout/IconVerticalSolidList"/>
    <dgm:cxn modelId="{1009D76D-710C-463C-9769-A5AC15E6BC50}" type="presParOf" srcId="{95562F74-F8C6-4BE2-8726-12173E437C99}" destId="{51F12A94-EF67-4107-BD7C-B789710F0725}" srcOrd="1" destOrd="0" presId="urn:microsoft.com/office/officeart/2018/2/layout/IconVerticalSolidList"/>
    <dgm:cxn modelId="{9D9CC98A-9B10-4BE6-94F4-A77F38A6F76B}" type="presParOf" srcId="{95562F74-F8C6-4BE2-8726-12173E437C99}" destId="{50A09C12-1AC7-4985-8F66-555DCF01F29E}" srcOrd="2" destOrd="0" presId="urn:microsoft.com/office/officeart/2018/2/layout/IconVerticalSolidList"/>
    <dgm:cxn modelId="{63AD11C5-08FA-4E5F-9EF0-5F0555387F97}" type="presParOf" srcId="{50A09C12-1AC7-4985-8F66-555DCF01F29E}" destId="{3B15128F-966E-4BB8-AD36-81BCE12E835B}" srcOrd="0" destOrd="0" presId="urn:microsoft.com/office/officeart/2018/2/layout/IconVerticalSolidList"/>
    <dgm:cxn modelId="{D70C7BAA-24AA-4E49-8571-37E23E8C6A42}" type="presParOf" srcId="{50A09C12-1AC7-4985-8F66-555DCF01F29E}" destId="{766AA3FD-2974-4E53-AB43-5A80B98423DD}" srcOrd="1" destOrd="0" presId="urn:microsoft.com/office/officeart/2018/2/layout/IconVerticalSolidList"/>
    <dgm:cxn modelId="{0C745400-8C57-4DF1-BDF8-CC99839AC122}" type="presParOf" srcId="{50A09C12-1AC7-4985-8F66-555DCF01F29E}" destId="{F4353A0C-DE54-432F-94EC-28AB6C048315}" srcOrd="2" destOrd="0" presId="urn:microsoft.com/office/officeart/2018/2/layout/IconVerticalSolidList"/>
    <dgm:cxn modelId="{84183F36-C750-496E-ABD1-A2E22D810146}" type="presParOf" srcId="{50A09C12-1AC7-4985-8F66-555DCF01F29E}" destId="{4E2DABFB-36C5-4485-8112-055AE6B34123}" srcOrd="3" destOrd="0" presId="urn:microsoft.com/office/officeart/2018/2/layout/IconVerticalSolidList"/>
    <dgm:cxn modelId="{4337BFCF-224C-4D4D-9FD3-F9399B719D4D}" type="presParOf" srcId="{95562F74-F8C6-4BE2-8726-12173E437C99}" destId="{CF9BE960-6E22-4C88-95A9-B656C8996F3F}" srcOrd="3" destOrd="0" presId="urn:microsoft.com/office/officeart/2018/2/layout/IconVerticalSolidList"/>
    <dgm:cxn modelId="{A95B23F0-FE4F-47F6-9CF0-113B7D9B4359}" type="presParOf" srcId="{95562F74-F8C6-4BE2-8726-12173E437C99}" destId="{699EA8B4-7479-46BB-B84A-10AB8A621470}" srcOrd="4" destOrd="0" presId="urn:microsoft.com/office/officeart/2018/2/layout/IconVerticalSolidList"/>
    <dgm:cxn modelId="{CA86B74D-D7AD-4C06-BDE1-20224D502B13}" type="presParOf" srcId="{699EA8B4-7479-46BB-B84A-10AB8A621470}" destId="{B4A35F0A-64C9-47C4-A114-79ED1750782E}" srcOrd="0" destOrd="0" presId="urn:microsoft.com/office/officeart/2018/2/layout/IconVerticalSolidList"/>
    <dgm:cxn modelId="{62C72051-2532-4994-94F8-5AAA91DC83C9}" type="presParOf" srcId="{699EA8B4-7479-46BB-B84A-10AB8A621470}" destId="{D35DD2F7-C085-446F-92D7-85046204B6D9}" srcOrd="1" destOrd="0" presId="urn:microsoft.com/office/officeart/2018/2/layout/IconVerticalSolidList"/>
    <dgm:cxn modelId="{CD3D5C80-6D60-4E50-A4D4-F1E995DE88EA}" type="presParOf" srcId="{699EA8B4-7479-46BB-B84A-10AB8A621470}" destId="{73131474-7FDF-49ED-A221-2DBA4CA3EF7F}" srcOrd="2" destOrd="0" presId="urn:microsoft.com/office/officeart/2018/2/layout/IconVerticalSolidList"/>
    <dgm:cxn modelId="{44B79A75-3BA7-4E84-B392-C4761EC87768}" type="presParOf" srcId="{699EA8B4-7479-46BB-B84A-10AB8A621470}" destId="{817F7517-B5D8-456C-83C9-8836A4EB9A33}" srcOrd="3" destOrd="0" presId="urn:microsoft.com/office/officeart/2018/2/layout/IconVerticalSolidList"/>
    <dgm:cxn modelId="{6C02D64D-566C-4C54-BE58-8E999C5F4D4D}" type="presParOf" srcId="{95562F74-F8C6-4BE2-8726-12173E437C99}" destId="{1F6CFD44-D129-4A8A-83DF-3087475224B6}" srcOrd="5" destOrd="0" presId="urn:microsoft.com/office/officeart/2018/2/layout/IconVerticalSolidList"/>
    <dgm:cxn modelId="{F68292D0-9869-4E76-9BCD-E4BC0219152D}" type="presParOf" srcId="{95562F74-F8C6-4BE2-8726-12173E437C99}" destId="{3C871874-10FF-46C4-90F2-9A0175BDE56D}" srcOrd="6" destOrd="0" presId="urn:microsoft.com/office/officeart/2018/2/layout/IconVerticalSolidList"/>
    <dgm:cxn modelId="{514A2A1A-18CA-45EE-9151-3691E4F48184}" type="presParOf" srcId="{3C871874-10FF-46C4-90F2-9A0175BDE56D}" destId="{B57F3DB9-5A00-4DFB-BC09-3F65707021B0}" srcOrd="0" destOrd="0" presId="urn:microsoft.com/office/officeart/2018/2/layout/IconVerticalSolidList"/>
    <dgm:cxn modelId="{E72A1399-998E-4C12-AE1F-11C3C84C6C2B}" type="presParOf" srcId="{3C871874-10FF-46C4-90F2-9A0175BDE56D}" destId="{E260A34D-73DD-4B63-A4AD-24FEEF05D611}" srcOrd="1" destOrd="0" presId="urn:microsoft.com/office/officeart/2018/2/layout/IconVerticalSolidList"/>
    <dgm:cxn modelId="{C3E846B8-1CA3-4FCC-B39A-B038130E1410}" type="presParOf" srcId="{3C871874-10FF-46C4-90F2-9A0175BDE56D}" destId="{F0BDC032-801A-4830-A4F0-24875DDF8941}" srcOrd="2" destOrd="0" presId="urn:microsoft.com/office/officeart/2018/2/layout/IconVerticalSolidList"/>
    <dgm:cxn modelId="{C380E2C5-D184-43F5-9FBF-B645C4BE33D4}" type="presParOf" srcId="{3C871874-10FF-46C4-90F2-9A0175BDE56D}" destId="{B39BF89B-5637-4F23-A32B-8097A0824F8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2912D3-90CB-4B21-8425-9E5F75FBA934}">
      <dsp:nvSpPr>
        <dsp:cNvPr id="0" name=""/>
        <dsp:cNvSpPr/>
      </dsp:nvSpPr>
      <dsp:spPr>
        <a:xfrm>
          <a:off x="0" y="0"/>
          <a:ext cx="399933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A6998938-FDF8-4BBA-A18C-C0C68BF19445}">
      <dsp:nvSpPr>
        <dsp:cNvPr id="0" name=""/>
        <dsp:cNvSpPr/>
      </dsp:nvSpPr>
      <dsp:spPr>
        <a:xfrm>
          <a:off x="0" y="0"/>
          <a:ext cx="3999334" cy="2267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Coffee quality is subjective, but experts use standardized “cupping scores”, which depend on sensory traits like aroma, flavor, and balance</a:t>
          </a:r>
        </a:p>
      </dsp:txBody>
      <dsp:txXfrm>
        <a:off x="0" y="0"/>
        <a:ext cx="3999334" cy="2267173"/>
      </dsp:txXfrm>
    </dsp:sp>
    <dsp:sp modelId="{A8DD2F9A-FA0F-466A-BE5F-D545211E0B2D}">
      <dsp:nvSpPr>
        <dsp:cNvPr id="0" name=""/>
        <dsp:cNvSpPr/>
      </dsp:nvSpPr>
      <dsp:spPr>
        <a:xfrm>
          <a:off x="0" y="2267173"/>
          <a:ext cx="399933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308A292-9F0B-43DF-8743-0315FB96308E}">
      <dsp:nvSpPr>
        <dsp:cNvPr id="0" name=""/>
        <dsp:cNvSpPr/>
      </dsp:nvSpPr>
      <dsp:spPr>
        <a:xfrm>
          <a:off x="0" y="2267173"/>
          <a:ext cx="3999334" cy="2267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Today’s Question: Can we predict coffee quality using production data alone?</a:t>
          </a:r>
        </a:p>
      </dsp:txBody>
      <dsp:txXfrm>
        <a:off x="0" y="2267173"/>
        <a:ext cx="3999334" cy="22671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411C5A-3A68-49D1-AC50-62A123A66B70}">
      <dsp:nvSpPr>
        <dsp:cNvPr id="0" name=""/>
        <dsp:cNvSpPr/>
      </dsp:nvSpPr>
      <dsp:spPr>
        <a:xfrm>
          <a:off x="0" y="706"/>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AA3FC2-7660-43BC-A1D5-951E4F039728}">
      <dsp:nvSpPr>
        <dsp:cNvPr id="0" name=""/>
        <dsp:cNvSpPr/>
      </dsp:nvSpPr>
      <dsp:spPr>
        <a:xfrm>
          <a:off x="500008" y="372613"/>
          <a:ext cx="909106" cy="90910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3DE5FA-2ED2-4FC5-BDF8-5EDA620952F7}">
      <dsp:nvSpPr>
        <dsp:cNvPr id="0" name=""/>
        <dsp:cNvSpPr/>
      </dsp:nvSpPr>
      <dsp:spPr>
        <a:xfrm>
          <a:off x="1909124" y="706"/>
          <a:ext cx="5040315"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1022350">
            <a:lnSpc>
              <a:spcPct val="90000"/>
            </a:lnSpc>
            <a:spcBef>
              <a:spcPct val="0"/>
            </a:spcBef>
            <a:spcAft>
              <a:spcPct val="35000"/>
            </a:spcAft>
            <a:buNone/>
          </a:pPr>
          <a:r>
            <a:rPr lang="en-US" sz="2300" kern="1200" dirty="0"/>
            <a:t>Methods Chosen were Random Forest and </a:t>
          </a:r>
          <a:r>
            <a:rPr lang="en-US" sz="2300" kern="1200" dirty="0" err="1"/>
            <a:t>XGBoost</a:t>
          </a:r>
          <a:r>
            <a:rPr lang="en-US" sz="2300" kern="1200" dirty="0"/>
            <a:t>, which is high-performing.</a:t>
          </a:r>
        </a:p>
      </dsp:txBody>
      <dsp:txXfrm>
        <a:off x="1909124" y="706"/>
        <a:ext cx="5040315" cy="1652921"/>
      </dsp:txXfrm>
    </dsp:sp>
    <dsp:sp modelId="{7D6147F3-6AEE-4D85-89D7-1DD0E657BCD8}">
      <dsp:nvSpPr>
        <dsp:cNvPr id="0" name=""/>
        <dsp:cNvSpPr/>
      </dsp:nvSpPr>
      <dsp:spPr>
        <a:xfrm>
          <a:off x="0" y="2066858"/>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65ED3D-E7DC-45EF-8725-72E7C0193CF4}">
      <dsp:nvSpPr>
        <dsp:cNvPr id="0" name=""/>
        <dsp:cNvSpPr/>
      </dsp:nvSpPr>
      <dsp:spPr>
        <a:xfrm>
          <a:off x="500008" y="2438765"/>
          <a:ext cx="909106" cy="90910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18F0E0-32CA-4F22-8F31-7082D810EE06}">
      <dsp:nvSpPr>
        <dsp:cNvPr id="0" name=""/>
        <dsp:cNvSpPr/>
      </dsp:nvSpPr>
      <dsp:spPr>
        <a:xfrm>
          <a:off x="1909124" y="2066858"/>
          <a:ext cx="5040315"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1022350">
            <a:lnSpc>
              <a:spcPct val="90000"/>
            </a:lnSpc>
            <a:spcBef>
              <a:spcPct val="0"/>
            </a:spcBef>
            <a:spcAft>
              <a:spcPct val="35000"/>
            </a:spcAft>
            <a:buNone/>
          </a:pPr>
          <a:r>
            <a:rPr lang="en-US" sz="2300" kern="1200" dirty="0"/>
            <a:t>Two different models were used, Regression and Classification models.</a:t>
          </a:r>
        </a:p>
      </dsp:txBody>
      <dsp:txXfrm>
        <a:off x="1909124" y="2066858"/>
        <a:ext cx="5040315" cy="1652921"/>
      </dsp:txXfrm>
    </dsp:sp>
    <dsp:sp modelId="{13963C63-6AEE-4DF5-8BF2-8E916CBE9B86}">
      <dsp:nvSpPr>
        <dsp:cNvPr id="0" name=""/>
        <dsp:cNvSpPr/>
      </dsp:nvSpPr>
      <dsp:spPr>
        <a:xfrm>
          <a:off x="0" y="4133010"/>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ACC9CB-422B-4274-B0CB-6C574530DA59}">
      <dsp:nvSpPr>
        <dsp:cNvPr id="0" name=""/>
        <dsp:cNvSpPr/>
      </dsp:nvSpPr>
      <dsp:spPr>
        <a:xfrm>
          <a:off x="500008" y="4504917"/>
          <a:ext cx="909106" cy="90910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10970F-806D-4B06-942A-55AEA5EF9E09}">
      <dsp:nvSpPr>
        <dsp:cNvPr id="0" name=""/>
        <dsp:cNvSpPr/>
      </dsp:nvSpPr>
      <dsp:spPr>
        <a:xfrm>
          <a:off x="1909124" y="4133010"/>
          <a:ext cx="5040315"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1022350">
            <a:lnSpc>
              <a:spcPct val="90000"/>
            </a:lnSpc>
            <a:spcBef>
              <a:spcPct val="0"/>
            </a:spcBef>
            <a:spcAft>
              <a:spcPct val="35000"/>
            </a:spcAft>
            <a:buNone/>
          </a:pPr>
          <a:r>
            <a:rPr lang="en-US" sz="2300" kern="1200"/>
            <a:t>In the dataset, two csv’s are included, Arabica and Robusta. Only Arabica was used for clarity.</a:t>
          </a:r>
        </a:p>
      </dsp:txBody>
      <dsp:txXfrm>
        <a:off x="1909124" y="4133010"/>
        <a:ext cx="5040315" cy="16529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2CB85-8101-4957-B877-261C05048123}">
      <dsp:nvSpPr>
        <dsp:cNvPr id="0" name=""/>
        <dsp:cNvSpPr/>
      </dsp:nvSpPr>
      <dsp:spPr>
        <a:xfrm>
          <a:off x="0" y="2401"/>
          <a:ext cx="6949440"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A5A3DD-B0BC-4EC1-B93B-EB17A51177B0}">
      <dsp:nvSpPr>
        <dsp:cNvPr id="0" name=""/>
        <dsp:cNvSpPr/>
      </dsp:nvSpPr>
      <dsp:spPr>
        <a:xfrm>
          <a:off x="368211" y="276278"/>
          <a:ext cx="669475" cy="6694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A09024-2973-4017-BB1F-77B31BF4939D}">
      <dsp:nvSpPr>
        <dsp:cNvPr id="0" name=""/>
        <dsp:cNvSpPr/>
      </dsp:nvSpPr>
      <dsp:spPr>
        <a:xfrm>
          <a:off x="1405898" y="2401"/>
          <a:ext cx="5543541"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977900">
            <a:lnSpc>
              <a:spcPct val="90000"/>
            </a:lnSpc>
            <a:spcBef>
              <a:spcPct val="0"/>
            </a:spcBef>
            <a:spcAft>
              <a:spcPct val="35000"/>
            </a:spcAft>
            <a:buNone/>
          </a:pPr>
          <a:r>
            <a:rPr lang="en-US" sz="2200" kern="1200"/>
            <a:t>Can we predict exact coffee scores?</a:t>
          </a:r>
        </a:p>
      </dsp:txBody>
      <dsp:txXfrm>
        <a:off x="1405898" y="2401"/>
        <a:ext cx="5543541" cy="1217228"/>
      </dsp:txXfrm>
    </dsp:sp>
    <dsp:sp modelId="{3B15128F-966E-4BB8-AD36-81BCE12E835B}">
      <dsp:nvSpPr>
        <dsp:cNvPr id="0" name=""/>
        <dsp:cNvSpPr/>
      </dsp:nvSpPr>
      <dsp:spPr>
        <a:xfrm>
          <a:off x="0" y="1523937"/>
          <a:ext cx="6949440"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6AA3FD-2974-4E53-AB43-5A80B98423DD}">
      <dsp:nvSpPr>
        <dsp:cNvPr id="0" name=""/>
        <dsp:cNvSpPr/>
      </dsp:nvSpPr>
      <dsp:spPr>
        <a:xfrm>
          <a:off x="368211" y="1797813"/>
          <a:ext cx="669475" cy="6694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2DABFB-36C5-4485-8112-055AE6B34123}">
      <dsp:nvSpPr>
        <dsp:cNvPr id="0" name=""/>
        <dsp:cNvSpPr/>
      </dsp:nvSpPr>
      <dsp:spPr>
        <a:xfrm>
          <a:off x="1405898" y="1523937"/>
          <a:ext cx="5543541"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977900">
            <a:lnSpc>
              <a:spcPct val="90000"/>
            </a:lnSpc>
            <a:spcBef>
              <a:spcPct val="0"/>
            </a:spcBef>
            <a:spcAft>
              <a:spcPct val="35000"/>
            </a:spcAft>
            <a:buNone/>
          </a:pPr>
          <a:r>
            <a:rPr lang="en-US" sz="2200" kern="1200"/>
            <a:t>Can we identify high-quality coffee?</a:t>
          </a:r>
        </a:p>
      </dsp:txBody>
      <dsp:txXfrm>
        <a:off x="1405898" y="1523937"/>
        <a:ext cx="5543541" cy="1217228"/>
      </dsp:txXfrm>
    </dsp:sp>
    <dsp:sp modelId="{B4A35F0A-64C9-47C4-A114-79ED1750782E}">
      <dsp:nvSpPr>
        <dsp:cNvPr id="0" name=""/>
        <dsp:cNvSpPr/>
      </dsp:nvSpPr>
      <dsp:spPr>
        <a:xfrm>
          <a:off x="0" y="3045472"/>
          <a:ext cx="6949440"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5DD2F7-C085-446F-92D7-85046204B6D9}">
      <dsp:nvSpPr>
        <dsp:cNvPr id="0" name=""/>
        <dsp:cNvSpPr/>
      </dsp:nvSpPr>
      <dsp:spPr>
        <a:xfrm>
          <a:off x="368211" y="3319348"/>
          <a:ext cx="669475" cy="6694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7F7517-B5D8-456C-83C9-8836A4EB9A33}">
      <dsp:nvSpPr>
        <dsp:cNvPr id="0" name=""/>
        <dsp:cNvSpPr/>
      </dsp:nvSpPr>
      <dsp:spPr>
        <a:xfrm>
          <a:off x="1405898" y="3045472"/>
          <a:ext cx="5543541"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977900">
            <a:lnSpc>
              <a:spcPct val="90000"/>
            </a:lnSpc>
            <a:spcBef>
              <a:spcPct val="0"/>
            </a:spcBef>
            <a:spcAft>
              <a:spcPct val="35000"/>
            </a:spcAft>
            <a:buNone/>
          </a:pPr>
          <a:r>
            <a:rPr lang="en-US" sz="2200" kern="1200" dirty="0"/>
            <a:t>Which features influence quality the most?</a:t>
          </a:r>
        </a:p>
      </dsp:txBody>
      <dsp:txXfrm>
        <a:off x="1405898" y="3045472"/>
        <a:ext cx="5543541" cy="1217228"/>
      </dsp:txXfrm>
    </dsp:sp>
    <dsp:sp modelId="{B57F3DB9-5A00-4DFB-BC09-3F65707021B0}">
      <dsp:nvSpPr>
        <dsp:cNvPr id="0" name=""/>
        <dsp:cNvSpPr/>
      </dsp:nvSpPr>
      <dsp:spPr>
        <a:xfrm>
          <a:off x="0" y="4567007"/>
          <a:ext cx="6949440"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60A34D-73DD-4B63-A4AD-24FEEF05D611}">
      <dsp:nvSpPr>
        <dsp:cNvPr id="0" name=""/>
        <dsp:cNvSpPr/>
      </dsp:nvSpPr>
      <dsp:spPr>
        <a:xfrm>
          <a:off x="368211" y="4840884"/>
          <a:ext cx="669475" cy="6694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9BF89B-5637-4F23-A32B-8097A0824F84}">
      <dsp:nvSpPr>
        <dsp:cNvPr id="0" name=""/>
        <dsp:cNvSpPr/>
      </dsp:nvSpPr>
      <dsp:spPr>
        <a:xfrm>
          <a:off x="1405898" y="4567007"/>
          <a:ext cx="5543541"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977900">
            <a:lnSpc>
              <a:spcPct val="90000"/>
            </a:lnSpc>
            <a:spcBef>
              <a:spcPct val="0"/>
            </a:spcBef>
            <a:spcAft>
              <a:spcPct val="35000"/>
            </a:spcAft>
            <a:buNone/>
          </a:pPr>
          <a:r>
            <a:rPr lang="en-US" sz="2200" kern="1200"/>
            <a:t>Do different models agree with each other?</a:t>
          </a:r>
        </a:p>
      </dsp:txBody>
      <dsp:txXfrm>
        <a:off x="1405898" y="4567007"/>
        <a:ext cx="5543541" cy="121722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6020B1-19B7-55A0-09FE-D911A8DC07F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8039987-34A8-7BB1-3ADD-EF5A45E2D11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5CA0082-8420-4D30-AE7F-D52D846275ED}" type="datetimeFigureOut">
              <a:rPr lang="en-US" smtClean="0"/>
              <a:t>4/21/2026</a:t>
            </a:fld>
            <a:endParaRPr lang="en-US"/>
          </a:p>
        </p:txBody>
      </p:sp>
      <p:sp>
        <p:nvSpPr>
          <p:cNvPr id="4" name="Footer Placeholder 3">
            <a:extLst>
              <a:ext uri="{FF2B5EF4-FFF2-40B4-BE49-F238E27FC236}">
                <a16:creationId xmlns:a16="http://schemas.microsoft.com/office/drawing/2014/main" id="{988D4A11-1C08-7248-38E0-E70BC1DBE11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5926200-033D-6A78-504A-28961FD66F6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186D3FD-F8C5-4C25-B045-8F6B766E7800}" type="slidenum">
              <a:rPr lang="en-US" smtClean="0"/>
              <a:t>‹#›</a:t>
            </a:fld>
            <a:endParaRPr lang="en-US"/>
          </a:p>
        </p:txBody>
      </p:sp>
    </p:spTree>
    <p:extLst>
      <p:ext uri="{BB962C8B-B14F-4D97-AF65-F5344CB8AC3E}">
        <p14:creationId xmlns:p14="http://schemas.microsoft.com/office/powerpoint/2010/main" val="403074122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5E2EAF-6E1D-4EEB-B7B1-F334086D1ACA}"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0A47B7-D08E-42B5-B53D-A94B504A717C}" type="slidenum">
              <a:rPr lang="en-US" smtClean="0"/>
              <a:t>‹#›</a:t>
            </a:fld>
            <a:endParaRPr lang="en-US"/>
          </a:p>
        </p:txBody>
      </p:sp>
    </p:spTree>
    <p:extLst>
      <p:ext uri="{BB962C8B-B14F-4D97-AF65-F5344CB8AC3E}">
        <p14:creationId xmlns:p14="http://schemas.microsoft.com/office/powerpoint/2010/main" val="134734785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Used the Coffee Quality Institute to see whether coffee quality can be predicted from production related features, rather than from the sensory scoring features that directly make up the final cupping score.</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1</a:t>
            </a:fld>
            <a:endParaRPr lang="en-US"/>
          </a:p>
        </p:txBody>
      </p:sp>
    </p:spTree>
    <p:extLst>
      <p:ext uri="{BB962C8B-B14F-4D97-AF65-F5344CB8AC3E}">
        <p14:creationId xmlns:p14="http://schemas.microsoft.com/office/powerpoint/2010/main" val="2662678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Coffee quality is subjective, but in industry settings, it is standardized using a cupping score, which is influenced by sensory traits like aroma, flavor, and balance.</a:t>
            </a:r>
          </a:p>
          <a:p>
            <a:endParaRPr lang="en-US" dirty="0"/>
          </a:p>
          <a:p>
            <a:r>
              <a:rPr lang="en-US" dirty="0"/>
              <a:t>My main question was: can we predict coffee quality using only production data, without using the individual sensory columns?</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2</a:t>
            </a:fld>
            <a:endParaRPr lang="en-US"/>
          </a:p>
        </p:txBody>
      </p:sp>
    </p:spTree>
    <p:extLst>
      <p:ext uri="{BB962C8B-B14F-4D97-AF65-F5344CB8AC3E}">
        <p14:creationId xmlns:p14="http://schemas.microsoft.com/office/powerpoint/2010/main" val="635735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coffee quality affects price, consumer perception, and market value. If quality can be predicted earlier using production data, that could improve crops and farmers improve practices and help buyers identify promising coffees more efficiently.</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3</a:t>
            </a:fld>
            <a:endParaRPr lang="en-US"/>
          </a:p>
        </p:txBody>
      </p:sp>
    </p:spTree>
    <p:extLst>
      <p:ext uri="{BB962C8B-B14F-4D97-AF65-F5344CB8AC3E}">
        <p14:creationId xmlns:p14="http://schemas.microsoft.com/office/powerpoint/2010/main" val="2973368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approached this project using two machine learning tasks: regression and classification.</a:t>
            </a:r>
            <a:br>
              <a:rPr lang="en-US" dirty="0"/>
            </a:br>
            <a:r>
              <a:rPr lang="en-US" dirty="0"/>
              <a:t>Regression predicts exact coffee scores, while classification predicts whether a coffee is high quality or not.</a:t>
            </a:r>
          </a:p>
          <a:p>
            <a:endParaRPr lang="en-US" dirty="0"/>
          </a:p>
          <a:p>
            <a:r>
              <a:rPr lang="en-US" dirty="0"/>
              <a:t>I used two models: </a:t>
            </a:r>
            <a:r>
              <a:rPr lang="en-US" dirty="0" err="1"/>
              <a:t>XGBoost</a:t>
            </a:r>
            <a:r>
              <a:rPr lang="en-US" dirty="0"/>
              <a:t> and Random Forest.</a:t>
            </a:r>
            <a:br>
              <a:rPr lang="en-US" dirty="0"/>
            </a:br>
            <a:r>
              <a:rPr lang="en-US" dirty="0"/>
              <a:t>Both are tree-based ensemble models that are well-suited for nonlinear relationships.</a:t>
            </a:r>
          </a:p>
          <a:p>
            <a:endParaRPr lang="en-US" dirty="0"/>
          </a:p>
          <a:p>
            <a:r>
              <a:rPr lang="en-US" dirty="0" err="1"/>
              <a:t>XGBoost</a:t>
            </a:r>
            <a:r>
              <a:rPr lang="en-US" dirty="0"/>
              <a:t> builds trees sequentially, improving on previous errors, while Random Forest builds trees independently and averages them.</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4</a:t>
            </a:fld>
            <a:endParaRPr lang="en-US"/>
          </a:p>
        </p:txBody>
      </p:sp>
    </p:spTree>
    <p:extLst>
      <p:ext uri="{BB962C8B-B14F-4D97-AF65-F5344CB8AC3E}">
        <p14:creationId xmlns:p14="http://schemas.microsoft.com/office/powerpoint/2010/main" val="561018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5</a:t>
            </a:fld>
            <a:endParaRPr lang="en-US"/>
          </a:p>
        </p:txBody>
      </p:sp>
    </p:spTree>
    <p:extLst>
      <p:ext uri="{BB962C8B-B14F-4D97-AF65-F5344CB8AC3E}">
        <p14:creationId xmlns:p14="http://schemas.microsoft.com/office/powerpoint/2010/main" val="2114322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sensory features like aroma, flavor, and balance directly contribute to final score, so they were removed to avoid data leakage.</a:t>
            </a:r>
          </a:p>
        </p:txBody>
      </p:sp>
      <p:sp>
        <p:nvSpPr>
          <p:cNvPr id="4" name="Slide Number Placeholder 3"/>
          <p:cNvSpPr>
            <a:spLocks noGrp="1"/>
          </p:cNvSpPr>
          <p:nvPr>
            <p:ph type="sldNum" sz="quarter" idx="5"/>
          </p:nvPr>
        </p:nvSpPr>
        <p:spPr/>
        <p:txBody>
          <a:bodyPr/>
          <a:lstStyle/>
          <a:p>
            <a:fld id="{970A47B7-D08E-42B5-B53D-A94B504A717C}" type="slidenum">
              <a:rPr lang="en-US" smtClean="0"/>
              <a:t>6</a:t>
            </a:fld>
            <a:endParaRPr lang="en-US"/>
          </a:p>
        </p:txBody>
      </p:sp>
      <p:sp>
        <p:nvSpPr>
          <p:cNvPr id="5" name="Footer Placeholder 4">
            <a:extLst>
              <a:ext uri="{FF2B5EF4-FFF2-40B4-BE49-F238E27FC236}">
                <a16:creationId xmlns:a16="http://schemas.microsoft.com/office/drawing/2014/main" id="{CF461DEF-4BCB-2E64-4CA6-AD847D5D82F9}"/>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87123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contains about 1310 samples, with an average score of around 82 and a standard deviation of about 2.7.</a:t>
            </a:r>
          </a:p>
          <a:p>
            <a:br>
              <a:rPr lang="en-US" dirty="0"/>
            </a:br>
            <a:r>
              <a:rPr lang="en-US" dirty="0"/>
              <a:t>This tells us that most coffee scores are tightly clustered, which already makes prediction more difficult.</a:t>
            </a:r>
          </a:p>
          <a:p>
            <a:endParaRPr lang="en-US" dirty="0"/>
          </a:p>
          <a:p>
            <a:r>
              <a:rPr lang="en-US" dirty="0"/>
              <a:t>Looking at correlations, sensory features show strong relationships with the score, which is expected since they contribute directly to it.</a:t>
            </a:r>
          </a:p>
          <a:p>
            <a:endParaRPr lang="en-US" dirty="0"/>
          </a:p>
          <a:p>
            <a:r>
              <a:rPr lang="en-US" dirty="0"/>
              <a:t>Production features like altitude, moisture, and defects show much weaker linear relationships.</a:t>
            </a:r>
          </a:p>
          <a:p>
            <a:endParaRPr lang="en-US" dirty="0"/>
          </a:p>
          <a:p>
            <a:r>
              <a:rPr lang="en-US" dirty="0"/>
              <a:t>A negative correlation means that as a feature increases, the coffee score tends to decrease, such as with defects.</a:t>
            </a:r>
          </a:p>
          <a:p>
            <a:endParaRPr lang="en-US" dirty="0"/>
          </a:p>
          <a:p>
            <a:r>
              <a:rPr lang="en-US" dirty="0"/>
              <a:t>This suggests that production features alone may not fully explain coffee quality.</a:t>
            </a:r>
          </a:p>
        </p:txBody>
      </p:sp>
      <p:sp>
        <p:nvSpPr>
          <p:cNvPr id="4" name="Slide Number Placeholder 3"/>
          <p:cNvSpPr>
            <a:spLocks noGrp="1"/>
          </p:cNvSpPr>
          <p:nvPr>
            <p:ph type="sldNum" sz="quarter" idx="5"/>
          </p:nvPr>
        </p:nvSpPr>
        <p:spPr/>
        <p:txBody>
          <a:bodyPr/>
          <a:lstStyle/>
          <a:p>
            <a:fld id="{970A47B7-D08E-42B5-B53D-A94B504A717C}" type="slidenum">
              <a:rPr lang="en-US" smtClean="0"/>
              <a:t>7</a:t>
            </a:fld>
            <a:endParaRPr lang="en-US"/>
          </a:p>
        </p:txBody>
      </p:sp>
      <p:sp>
        <p:nvSpPr>
          <p:cNvPr id="5" name="Footer Placeholder 4">
            <a:extLst>
              <a:ext uri="{FF2B5EF4-FFF2-40B4-BE49-F238E27FC236}">
                <a16:creationId xmlns:a16="http://schemas.microsoft.com/office/drawing/2014/main" id="{444EAA6F-8326-929F-6C89-B1E649A2A32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47938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first applied </a:t>
            </a:r>
            <a:r>
              <a:rPr lang="en-US" dirty="0" err="1"/>
              <a:t>XGBoost</a:t>
            </a:r>
            <a:r>
              <a:rPr lang="en-US" dirty="0"/>
              <a:t> to both regression and classification tasks to see how well it performs.</a:t>
            </a:r>
          </a:p>
          <a:p>
            <a:endParaRPr lang="en-US" dirty="0"/>
          </a:p>
        </p:txBody>
      </p:sp>
      <p:sp>
        <p:nvSpPr>
          <p:cNvPr id="4" name="Slide Number Placeholder 3"/>
          <p:cNvSpPr>
            <a:spLocks noGrp="1"/>
          </p:cNvSpPr>
          <p:nvPr>
            <p:ph type="sldNum" sz="quarter" idx="5"/>
          </p:nvPr>
        </p:nvSpPr>
        <p:spPr/>
        <p:txBody>
          <a:bodyPr/>
          <a:lstStyle/>
          <a:p>
            <a:fld id="{970A47B7-D08E-42B5-B53D-A94B504A717C}" type="slidenum">
              <a:rPr lang="en-US" smtClean="0"/>
              <a:t>8</a:t>
            </a:fld>
            <a:endParaRPr lang="en-US"/>
          </a:p>
        </p:txBody>
      </p:sp>
      <p:sp>
        <p:nvSpPr>
          <p:cNvPr id="5" name="Footer Placeholder 4">
            <a:extLst>
              <a:ext uri="{FF2B5EF4-FFF2-40B4-BE49-F238E27FC236}">
                <a16:creationId xmlns:a16="http://schemas.microsoft.com/office/drawing/2014/main" id="{2055A0DC-CF86-C1BB-B688-45E9D25C960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319163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HALFWAY POINT – 7.5</a:t>
            </a:r>
          </a:p>
          <a:p>
            <a:r>
              <a:rPr lang="en-US" dirty="0"/>
              <a:t>The question was “how well can we predict the exact coffee score using production features?</a:t>
            </a:r>
          </a:p>
          <a:p>
            <a:endParaRPr lang="en-US" dirty="0"/>
          </a:p>
          <a:p>
            <a:r>
              <a:rPr lang="en-US" dirty="0"/>
              <a:t>First, we focus on the plots that are on the line, which are perfect predictions. Scattered points are errors, indicating prediction error.</a:t>
            </a:r>
          </a:p>
          <a:p>
            <a:endParaRPr lang="en-US" dirty="0"/>
          </a:p>
          <a:p>
            <a:r>
              <a:rPr lang="en-US" dirty="0"/>
              <a:t>Here are the top 15 features with noninformative columns and noise dropped. We see that the variety </a:t>
            </a:r>
            <a:r>
              <a:rPr lang="en-US" dirty="0" err="1"/>
              <a:t>Catuai</a:t>
            </a:r>
            <a:r>
              <a:rPr lang="en-US" dirty="0"/>
              <a:t> and Typica, along with altitude were stronger predicting factors for the coffee cupping score. We removed sensory features such as aroma and flavor to avoid data leakage that contribute directly to the final score.</a:t>
            </a:r>
          </a:p>
          <a:p>
            <a:endParaRPr lang="en-US" dirty="0"/>
          </a:p>
          <a:p>
            <a:r>
              <a:rPr lang="en-US" dirty="0"/>
              <a:t>For the regression models, we use evaluation metrics RMSE and R2, which measures how much of the variation in our coffee score can explain.</a:t>
            </a:r>
          </a:p>
          <a:p>
            <a:endParaRPr lang="en-US" dirty="0"/>
          </a:p>
          <a:p>
            <a:r>
              <a:rPr lang="en-US" dirty="0"/>
              <a:t>RMSE shows that on average, predictions are off by about 2.3 points on average and R2 explains only ~14.6 % of the variation in coffee scores. The Mean Absolute Error shows that predictions are off by about 2 points. The low R2 score suggests that coffee quality really does depend on factors not present in the dataset such as the human evaluation from sensory characteristics.</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9</a:t>
            </a:fld>
            <a:endParaRPr lang="en-US"/>
          </a:p>
        </p:txBody>
      </p:sp>
    </p:spTree>
    <p:extLst>
      <p:ext uri="{BB962C8B-B14F-4D97-AF65-F5344CB8AC3E}">
        <p14:creationId xmlns:p14="http://schemas.microsoft.com/office/powerpoint/2010/main" val="4208770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baseline model, we see that accuracy is relatively high, but recall is low. This means the model misses many high-quality coffees due to class imbalance.</a:t>
            </a:r>
          </a:p>
          <a:p>
            <a:endParaRPr lang="en-US" dirty="0"/>
          </a:p>
          <a:p>
            <a:r>
              <a:rPr lang="en-US" dirty="0"/>
              <a:t>We also see a lot of the same but differently ordered features.</a:t>
            </a:r>
          </a:p>
          <a:p>
            <a:endParaRPr lang="en-US" dirty="0"/>
          </a:p>
          <a:p>
            <a:r>
              <a:rPr lang="en-US" dirty="0"/>
              <a:t>OPTIONAL – Feature descriptions</a:t>
            </a:r>
          </a:p>
          <a:p>
            <a:endParaRPr lang="en-US" dirty="0"/>
          </a:p>
          <a:p>
            <a:r>
              <a:rPr lang="en-US" dirty="0"/>
              <a:t>Ex: Typica variety is one of the oldest and most genetically significant of arabica coffee, located in southwestern Ethiopia.</a:t>
            </a:r>
          </a:p>
          <a:p>
            <a:r>
              <a:rPr lang="en-US" dirty="0"/>
              <a:t>Processing method also contributes heavily to both </a:t>
            </a:r>
            <a:r>
              <a:rPr lang="en-US" dirty="0" err="1"/>
              <a:t>XGBoost</a:t>
            </a:r>
            <a:r>
              <a:rPr lang="en-US" dirty="0"/>
              <a:t> models. Washed coffee is the process where coffee is fermented with water, dry </a:t>
            </a:r>
            <a:r>
              <a:rPr lang="en-US" dirty="0" err="1"/>
              <a:t>referes</a:t>
            </a:r>
            <a:r>
              <a:rPr lang="en-US" dirty="0"/>
              <a:t> to without.</a:t>
            </a:r>
          </a:p>
          <a:p>
            <a:r>
              <a:rPr lang="en-US" dirty="0"/>
              <a:t>Semi washed/semi pulped is a hybrid between washed and natural processing – outer skin removed, some sticky layer left, and beans are only partially washed</a:t>
            </a:r>
          </a:p>
          <a:p>
            <a:endParaRPr lang="en-US" dirty="0"/>
          </a:p>
          <a:p>
            <a:r>
              <a:rPr lang="en-US" dirty="0"/>
              <a:t>Other features: Variety </a:t>
            </a:r>
            <a:r>
              <a:rPr lang="en-US" dirty="0" err="1"/>
              <a:t>Catimor</a:t>
            </a:r>
            <a:r>
              <a:rPr lang="en-US" dirty="0"/>
              <a:t>: hybrid coffee variety developed in Portugal in 1959 by breeding </a:t>
            </a:r>
            <a:r>
              <a:rPr lang="en-US" dirty="0" err="1"/>
              <a:t>Caturra</a:t>
            </a:r>
            <a:r>
              <a:rPr lang="en-US" dirty="0"/>
              <a:t> (Arabica) and Timor Hybrid (Arabica + Robusta)</a:t>
            </a:r>
          </a:p>
          <a:p>
            <a:r>
              <a:rPr lang="en-US" dirty="0"/>
              <a:t>Variety SL34: developed in 1930s by Scott Agricultural Laboratories in Kenya, celebrated for producing exceptionally high quality coffee</a:t>
            </a:r>
          </a:p>
          <a:p>
            <a:r>
              <a:rPr lang="en-US" dirty="0"/>
              <a:t>Category 2 defects: minor physical defects like broken beans, discoloration, and insect damage</a:t>
            </a:r>
          </a:p>
          <a:p>
            <a:r>
              <a:rPr lang="en-US" dirty="0"/>
              <a:t>Moisture: water content of the bean itself (ideal is around 10-12%)</a:t>
            </a:r>
          </a:p>
          <a:p>
            <a:r>
              <a:rPr lang="en-US" dirty="0"/>
              <a:t>Color Green or Bluish Green indicates freshness, processing quality and storage conditions. Green is normal and ind. Slightly </a:t>
            </a:r>
            <a:r>
              <a:rPr lang="en-US" dirty="0" err="1"/>
              <a:t>gged</a:t>
            </a:r>
            <a:r>
              <a:rPr lang="en-US" dirty="0"/>
              <a:t> or typical beans, bluish green is fresher and better processed, associated with specialty coffee.</a:t>
            </a:r>
          </a:p>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10</a:t>
            </a:fld>
            <a:endParaRPr lang="en-US"/>
          </a:p>
        </p:txBody>
      </p:sp>
    </p:spTree>
    <p:extLst>
      <p:ext uri="{BB962C8B-B14F-4D97-AF65-F5344CB8AC3E}">
        <p14:creationId xmlns:p14="http://schemas.microsoft.com/office/powerpoint/2010/main" val="1300284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To improve the model, I tuned the number </a:t>
            </a:r>
            <a:r>
              <a:rPr lang="en-US" dirty="0" err="1"/>
              <a:t>n_estimators</a:t>
            </a:r>
            <a:r>
              <a:rPr lang="en-US" dirty="0"/>
              <a:t>, </a:t>
            </a:r>
            <a:r>
              <a:rPr lang="en-US" dirty="0" err="1"/>
              <a:t>max_depth</a:t>
            </a:r>
            <a:r>
              <a:rPr lang="en-US" dirty="0"/>
              <a:t>, and </a:t>
            </a:r>
            <a:r>
              <a:rPr lang="en-US" dirty="0" err="1"/>
              <a:t>learning_rate</a:t>
            </a:r>
            <a:r>
              <a:rPr lang="en-US" dirty="0"/>
              <a:t>.</a:t>
            </a:r>
          </a:p>
          <a:p>
            <a:endParaRPr lang="en-US" dirty="0"/>
          </a:p>
          <a:p>
            <a:r>
              <a:rPr lang="en-US" dirty="0"/>
              <a:t>For this classifier, F1 is a good tuning metric because it provides precision for fewer false positives and recall to catch more high-quality coffee samples.</a:t>
            </a:r>
          </a:p>
          <a:p>
            <a:r>
              <a:rPr lang="en-US" dirty="0"/>
              <a:t>Using the F1 metric, I tuned the number of trees to 50, tree depth to 7, and learning rate to 0.10 for </a:t>
            </a:r>
            <a:r>
              <a:rPr lang="en-US" dirty="0" err="1"/>
              <a:t>XGBoost</a:t>
            </a:r>
            <a:r>
              <a:rPr lang="en-US" dirty="0"/>
              <a:t> classification. I selected the best model using F1 score because the dataset is highly imbalanced and accuracy alone would be misleading.</a:t>
            </a:r>
          </a:p>
          <a:p>
            <a:endParaRPr lang="en-US" dirty="0"/>
          </a:p>
          <a:p>
            <a:r>
              <a:rPr lang="en-US" dirty="0"/>
              <a:t>The tuning results produced a modest improvement, which suggests that feature quality and class imbalance limited performance more than parameter choice. We see that the tuned model now predicts high-quality coffee 33% of the time correctly (precision), a higher detection of the rare class (recall) and the F1 score shows that the model is now much better at balancing precision and accuracy.  We see that the tuned model actually predicts more true positives, from 7 to 10.</a:t>
            </a:r>
          </a:p>
        </p:txBody>
      </p:sp>
      <p:sp>
        <p:nvSpPr>
          <p:cNvPr id="4" name="Slide Number Placeholder 3"/>
          <p:cNvSpPr>
            <a:spLocks noGrp="1"/>
          </p:cNvSpPr>
          <p:nvPr>
            <p:ph type="sldNum" sz="quarter" idx="5"/>
          </p:nvPr>
        </p:nvSpPr>
        <p:spPr/>
        <p:txBody>
          <a:bodyPr/>
          <a:lstStyle/>
          <a:p>
            <a:fld id="{970A47B7-D08E-42B5-B53D-A94B504A717C}" type="slidenum">
              <a:rPr lang="en-US" smtClean="0"/>
              <a:t>11</a:t>
            </a:fld>
            <a:endParaRPr lang="en-US"/>
          </a:p>
        </p:txBody>
      </p:sp>
      <p:sp>
        <p:nvSpPr>
          <p:cNvPr id="5" name="Footer Placeholder 4">
            <a:extLst>
              <a:ext uri="{FF2B5EF4-FFF2-40B4-BE49-F238E27FC236}">
                <a16:creationId xmlns:a16="http://schemas.microsoft.com/office/drawing/2014/main" id="{B0A13D0C-E3E5-087C-38A6-E8EA1568216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9418108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Review of Random Forest: builds many decision trees independently and averages their predictions, which helps capture nonlinear relationships and reduces overfitting.</a:t>
            </a:r>
          </a:p>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12</a:t>
            </a:fld>
            <a:endParaRPr lang="en-US"/>
          </a:p>
        </p:txBody>
      </p:sp>
    </p:spTree>
    <p:extLst>
      <p:ext uri="{BB962C8B-B14F-4D97-AF65-F5344CB8AC3E}">
        <p14:creationId xmlns:p14="http://schemas.microsoft.com/office/powerpoint/2010/main" val="41839725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 Random Forest Regressor to predict the exact coffee quality score using production features, same as before. Since this is the regression model, we predict exact coffee quality scores, rather than high quality/low quality.</a:t>
            </a:r>
          </a:p>
          <a:p>
            <a:endParaRPr lang="en-US" dirty="0"/>
          </a:p>
          <a:p>
            <a:r>
              <a:rPr lang="en-US" dirty="0"/>
              <a:t>Here we see a root mean squared error of app. 2.28, and an R^2 of .26, meaning that the predictions are off by about 2.28 points, and the ~28.44% of the variation is explained by R^2. The MAE is not too different from before. We will get to comparison shortly</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13</a:t>
            </a:fld>
            <a:endParaRPr lang="en-US"/>
          </a:p>
        </p:txBody>
      </p:sp>
    </p:spTree>
    <p:extLst>
      <p:ext uri="{BB962C8B-B14F-4D97-AF65-F5344CB8AC3E}">
        <p14:creationId xmlns:p14="http://schemas.microsoft.com/office/powerpoint/2010/main" val="2303814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from the confusion matrix that there were very few false positives but many false negatives.</a:t>
            </a:r>
          </a:p>
          <a:p>
            <a:endParaRPr lang="en-US" dirty="0"/>
          </a:p>
          <a:p>
            <a:r>
              <a:rPr lang="en-US" dirty="0"/>
              <a:t>We see from the top 15 features that they are all quite similar</a:t>
            </a:r>
          </a:p>
          <a:p>
            <a:endParaRPr lang="en-US" dirty="0"/>
          </a:p>
          <a:p>
            <a:r>
              <a:rPr lang="en-US" dirty="0"/>
              <a:t>Although accuracy and precision and high, recall is very low, meaning the model fails to detect high quality coffees. This shows that accuracy alone is misleading in imbalanced datasets.</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14</a:t>
            </a:fld>
            <a:endParaRPr lang="en-US"/>
          </a:p>
        </p:txBody>
      </p:sp>
    </p:spTree>
    <p:extLst>
      <p:ext uri="{BB962C8B-B14F-4D97-AF65-F5344CB8AC3E}">
        <p14:creationId xmlns:p14="http://schemas.microsoft.com/office/powerpoint/2010/main" val="920377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that RMSE is slightly lower for Random Forest than </a:t>
            </a:r>
            <a:r>
              <a:rPr lang="en-US" dirty="0" err="1"/>
              <a:t>XGBoost</a:t>
            </a:r>
            <a:r>
              <a:rPr lang="en-US" dirty="0"/>
              <a:t>, meaning that  it explains more of the variation in coffee quality.</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15</a:t>
            </a:fld>
            <a:endParaRPr lang="en-US"/>
          </a:p>
        </p:txBody>
      </p:sp>
    </p:spTree>
    <p:extLst>
      <p:ext uri="{BB962C8B-B14F-4D97-AF65-F5344CB8AC3E}">
        <p14:creationId xmlns:p14="http://schemas.microsoft.com/office/powerpoint/2010/main" val="1656667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16</a:t>
            </a:fld>
            <a:endParaRPr lang="en-US"/>
          </a:p>
        </p:txBody>
      </p:sp>
    </p:spTree>
    <p:extLst>
      <p:ext uri="{BB962C8B-B14F-4D97-AF65-F5344CB8AC3E}">
        <p14:creationId xmlns:p14="http://schemas.microsoft.com/office/powerpoint/2010/main" val="2411842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Unfortunately I didn’t realize I had not removed these features until much more recently. </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17</a:t>
            </a:fld>
            <a:endParaRPr lang="en-US"/>
          </a:p>
        </p:txBody>
      </p:sp>
    </p:spTree>
    <p:extLst>
      <p:ext uri="{BB962C8B-B14F-4D97-AF65-F5344CB8AC3E}">
        <p14:creationId xmlns:p14="http://schemas.microsoft.com/office/powerpoint/2010/main" val="15670376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model: For regression, Random Forest explains more variance. For classification, tuned </a:t>
            </a:r>
            <a:r>
              <a:rPr lang="en-US" dirty="0" err="1"/>
              <a:t>XGBoost</a:t>
            </a:r>
            <a:r>
              <a:rPr lang="en-US" dirty="0"/>
              <a:t> provided the best balance between precision and recall.</a:t>
            </a:r>
          </a:p>
          <a:p>
            <a:endParaRPr lang="en-US" dirty="0"/>
          </a:p>
          <a:p>
            <a:pPr marL="228600" indent="-228600">
              <a:buAutoNum type="arabicPeriod"/>
            </a:pPr>
            <a:r>
              <a:rPr lang="en-US" dirty="0"/>
              <a:t>Coffee quality is difficult to predict using production features, shown by low R^2, a moderate RMSE, and scattered prediction plots</a:t>
            </a:r>
          </a:p>
          <a:p>
            <a:pPr marL="228600" indent="-228600">
              <a:buAutoNum type="arabicPeriod"/>
            </a:pPr>
            <a:r>
              <a:rPr lang="en-US" dirty="0"/>
              <a:t>Regression models showed limited predictive power, shown by R2 &lt; 0.3, predictions are not tightly clustered, and a large unexplained variance.</a:t>
            </a:r>
          </a:p>
          <a:p>
            <a:pPr marL="228600" indent="-228600">
              <a:buAutoNum type="arabicPeriod"/>
            </a:pPr>
            <a:r>
              <a:rPr lang="en-US" dirty="0"/>
              <a:t>Classification improved with tuning -&gt; see comparison table in hyperparameters</a:t>
            </a:r>
          </a:p>
          <a:p>
            <a:pPr marL="228600" indent="-228600">
              <a:buAutoNum type="arabicPeriod"/>
            </a:pPr>
            <a:r>
              <a:rPr lang="en-US" dirty="0"/>
              <a:t>Correlation showed weak linear relationships, tree models still </a:t>
            </a:r>
            <a:r>
              <a:rPr lang="en-US" dirty="0" err="1"/>
              <a:t>foun</a:t>
            </a:r>
            <a:r>
              <a:rPr lang="en-US" dirty="0"/>
              <a:t> meaningful patterns, and linear models would perform worse?</a:t>
            </a:r>
          </a:p>
          <a:p>
            <a:pPr marL="0" indent="0">
              <a:buNone/>
            </a:pPr>
            <a:r>
              <a:rPr lang="en-US" dirty="0"/>
              <a:t>5. Number of bags boosted performance but logically it doesn’t cause quality</a:t>
            </a:r>
          </a:p>
          <a:p>
            <a:pPr marL="0" indent="0">
              <a:buNone/>
            </a:pPr>
            <a:endParaRPr lang="en-US" dirty="0"/>
          </a:p>
          <a:p>
            <a:pPr marL="0" indent="0">
              <a:buNone/>
            </a:pPr>
            <a:r>
              <a:rPr lang="en-US" dirty="0"/>
              <a:t>Model performance is limited more by data quality than model choice.</a:t>
            </a:r>
          </a:p>
          <a:p>
            <a:pPr marL="0" indent="0">
              <a:buNone/>
            </a:pPr>
            <a:r>
              <a:rPr lang="en-US" dirty="0" err="1"/>
              <a:t>XGBoost</a:t>
            </a:r>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0A47B7-D08E-42B5-B53D-A94B504A717C}" type="slidenum">
              <a:rPr lang="en-US" smtClean="0"/>
              <a:t>18</a:t>
            </a:fld>
            <a:endParaRPr lang="en-US"/>
          </a:p>
        </p:txBody>
      </p:sp>
    </p:spTree>
    <p:extLst>
      <p:ext uri="{BB962C8B-B14F-4D97-AF65-F5344CB8AC3E}">
        <p14:creationId xmlns:p14="http://schemas.microsoft.com/office/powerpoint/2010/main" val="1814317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AEAC09A0-1AFE-4291-AB76-25BB928A7523}" type="datetime1">
              <a:rPr lang="en-US" smtClean="0"/>
              <a:t>4/21/2026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41636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0F1F95B-2002-4853-BAEC-B0BBAE917EDA}" type="datetime1">
              <a:rPr lang="en-US" smtClean="0"/>
              <a:t>4/21/2026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89444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16905735-9C05-4F77-9DD2-2D8E8BAC6CA7}" type="datetime1">
              <a:rPr lang="en-US" smtClean="0"/>
              <a:t>4/21/2026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15119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C98C23B-5962-4636-BB36-C97048EEBF3A}" type="datetime1">
              <a:rPr lang="en-US" smtClean="0"/>
              <a:t>4/21/2026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68994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2C939300-37F3-4793-ABEB-B426802DF505}" type="datetime1">
              <a:rPr lang="en-US" smtClean="0"/>
              <a:t>4/21/2026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9640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AE48985F-7E2B-4DB3-83E9-0E7AAD7EED47}" type="datetime1">
              <a:rPr lang="en-US" smtClean="0"/>
              <a:t>4/21/2026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76315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859DE5A-725C-436A-AE26-170D894532EA}" type="datetime1">
              <a:rPr lang="en-US" smtClean="0"/>
              <a:t>4/21/2026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62168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2DB8619B-8C82-4772-9B28-779BBA78CB52}" type="datetime1">
              <a:rPr lang="en-US" smtClean="0"/>
              <a:t>4/21/2026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73486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76A3575D-F66A-4815-85F7-595091568C9A}" type="datetime1">
              <a:rPr lang="en-US" smtClean="0"/>
              <a:t>4/21/2026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59845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3D4950FD-D56C-41D6-9B8A-0E1CD90BDBBF}" type="datetime1">
              <a:rPr lang="en-US" smtClean="0"/>
              <a:t>4/21/2026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98592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1E660E7B-4B54-4FC5-A854-DE96FEF2786E}" type="datetime1">
              <a:rPr lang="en-US" smtClean="0"/>
              <a:t>4/21/2026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19656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145FE8DF-9ED7-488A-BE11-B98018F1EE6A}" type="datetime1">
              <a:rPr lang="en-US" smtClean="0"/>
              <a:t>4/21/2026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641768695"/>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jp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0135D4-D3A1-4556-B91B-4A12069D4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Coffee Beans">
            <a:extLst>
              <a:ext uri="{FF2B5EF4-FFF2-40B4-BE49-F238E27FC236}">
                <a16:creationId xmlns:a16="http://schemas.microsoft.com/office/drawing/2014/main" id="{2A1AAF72-F742-6E26-8A5A-33505F463A2E}"/>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284" r="-1" b="-1"/>
          <a:stretch>
            <a:fillRect/>
          </a:stretch>
        </p:blipFill>
        <p:spPr>
          <a:xfrm>
            <a:off x="20" y="-1"/>
            <a:ext cx="12191980" cy="6858001"/>
          </a:xfrm>
          <a:prstGeom prst="rect">
            <a:avLst/>
          </a:prstGeom>
        </p:spPr>
      </p:pic>
      <p:sp>
        <p:nvSpPr>
          <p:cNvPr id="11" name="Rectangle 10">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2015" y="-752015"/>
            <a:ext cx="6858000" cy="8362030"/>
          </a:xfrm>
          <a:prstGeom prst="rect">
            <a:avLst/>
          </a:prstGeom>
          <a:gradFill>
            <a:gsLst>
              <a:gs pos="0">
                <a:srgbClr val="000000">
                  <a:alpha val="0"/>
                </a:srgbClr>
              </a:gs>
              <a:gs pos="55000">
                <a:srgbClr val="000000">
                  <a:alpha val="50000"/>
                </a:srgbClr>
              </a:gs>
              <a:gs pos="100000">
                <a:srgbClr val="000000">
                  <a:alpha val="6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866503-1697-EF54-FB51-8781BA4582E6}"/>
              </a:ext>
            </a:extLst>
          </p:cNvPr>
          <p:cNvSpPr>
            <a:spLocks noGrp="1"/>
          </p:cNvSpPr>
          <p:nvPr>
            <p:ph type="ctrTitle"/>
          </p:nvPr>
        </p:nvSpPr>
        <p:spPr>
          <a:xfrm>
            <a:off x="626918" y="3429000"/>
            <a:ext cx="4506064" cy="1888742"/>
          </a:xfrm>
        </p:spPr>
        <p:txBody>
          <a:bodyPr>
            <a:normAutofit/>
          </a:bodyPr>
          <a:lstStyle/>
          <a:p>
            <a:pPr algn="l"/>
            <a:r>
              <a:rPr lang="en-US" sz="3100" dirty="0">
                <a:solidFill>
                  <a:srgbClr val="FFFFFF"/>
                </a:solidFill>
              </a:rPr>
              <a:t>Predicting Global Coffee Quality Using Machine Learning </a:t>
            </a:r>
          </a:p>
        </p:txBody>
      </p:sp>
      <p:sp>
        <p:nvSpPr>
          <p:cNvPr id="3" name="Subtitle 2">
            <a:extLst>
              <a:ext uri="{FF2B5EF4-FFF2-40B4-BE49-F238E27FC236}">
                <a16:creationId xmlns:a16="http://schemas.microsoft.com/office/drawing/2014/main" id="{7532D7BF-B9E5-B47E-E111-671B24D8E783}"/>
              </a:ext>
            </a:extLst>
          </p:cNvPr>
          <p:cNvSpPr>
            <a:spLocks noGrp="1"/>
          </p:cNvSpPr>
          <p:nvPr>
            <p:ph type="subTitle" idx="1"/>
          </p:nvPr>
        </p:nvSpPr>
        <p:spPr>
          <a:xfrm>
            <a:off x="626916" y="5428229"/>
            <a:ext cx="4506066" cy="899643"/>
          </a:xfrm>
        </p:spPr>
        <p:txBody>
          <a:bodyPr>
            <a:normAutofit/>
          </a:bodyPr>
          <a:lstStyle/>
          <a:p>
            <a:pPr algn="l"/>
            <a:r>
              <a:rPr lang="en-US">
                <a:solidFill>
                  <a:srgbClr val="FFFFFF"/>
                </a:solidFill>
              </a:rPr>
              <a:t>CQI Dataset Analysis</a:t>
            </a:r>
          </a:p>
          <a:p>
            <a:pPr algn="l"/>
            <a:r>
              <a:rPr lang="en-US">
                <a:solidFill>
                  <a:srgbClr val="FFFFFF"/>
                </a:solidFill>
              </a:rPr>
              <a:t>Lindsey Bowen, Spring 2026</a:t>
            </a:r>
          </a:p>
        </p:txBody>
      </p:sp>
      <p:sp>
        <p:nvSpPr>
          <p:cNvPr id="6" name="Slide Number Placeholder 5">
            <a:extLst>
              <a:ext uri="{FF2B5EF4-FFF2-40B4-BE49-F238E27FC236}">
                <a16:creationId xmlns:a16="http://schemas.microsoft.com/office/drawing/2014/main" id="{3380AFDB-A348-53B3-F90B-3B1F483F7EDA}"/>
              </a:ext>
            </a:extLst>
          </p:cNvPr>
          <p:cNvSpPr>
            <a:spLocks noGrp="1"/>
          </p:cNvSpPr>
          <p:nvPr>
            <p:ph type="sldNum" sz="quarter" idx="12"/>
          </p:nvPr>
        </p:nvSpPr>
        <p:spPr/>
        <p:txBody>
          <a:bodyPr/>
          <a:lstStyle/>
          <a:p>
            <a:fld id="{CC057153-B650-4DEB-B370-79DDCFDCE934}" type="slidenum">
              <a:rPr lang="en-US" smtClean="0"/>
              <a:t>1</a:t>
            </a:fld>
            <a:endParaRPr lang="en-US"/>
          </a:p>
        </p:txBody>
      </p:sp>
    </p:spTree>
    <p:extLst>
      <p:ext uri="{BB962C8B-B14F-4D97-AF65-F5344CB8AC3E}">
        <p14:creationId xmlns:p14="http://schemas.microsoft.com/office/powerpoint/2010/main" val="116236765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57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AB9B8B4-6AA0-6EC2-5180-35BA3CFC2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06AF52-3E88-5D1C-45F6-9B2E5E882281}"/>
              </a:ext>
            </a:extLst>
          </p:cNvPr>
          <p:cNvSpPr>
            <a:spLocks noGrp="1"/>
          </p:cNvSpPr>
          <p:nvPr>
            <p:ph type="title"/>
          </p:nvPr>
        </p:nvSpPr>
        <p:spPr>
          <a:xfrm>
            <a:off x="612647" y="548640"/>
            <a:ext cx="10872216" cy="1132258"/>
          </a:xfrm>
        </p:spPr>
        <p:txBody>
          <a:bodyPr anchor="t">
            <a:normAutofit/>
          </a:bodyPr>
          <a:lstStyle/>
          <a:p>
            <a:r>
              <a:rPr lang="en-US"/>
              <a:t>Problem Definition</a:t>
            </a:r>
          </a:p>
        </p:txBody>
      </p:sp>
      <p:pic>
        <p:nvPicPr>
          <p:cNvPr id="11" name="Picture 10">
            <a:extLst>
              <a:ext uri="{FF2B5EF4-FFF2-40B4-BE49-F238E27FC236}">
                <a16:creationId xmlns:a16="http://schemas.microsoft.com/office/drawing/2014/main" id="{C7073673-1AE9-2CD0-C994-B92A2FF8EEA6}"/>
              </a:ext>
            </a:extLst>
          </p:cNvPr>
          <p:cNvPicPr>
            <a:picLocks noChangeAspect="1"/>
          </p:cNvPicPr>
          <p:nvPr/>
        </p:nvPicPr>
        <p:blipFill>
          <a:blip r:embed="rId3"/>
          <a:srcRect r="6729" b="7"/>
          <a:stretch>
            <a:fillRect/>
          </a:stretch>
        </p:blipFill>
        <p:spPr>
          <a:xfrm>
            <a:off x="731520" y="1775012"/>
            <a:ext cx="3158993" cy="4534348"/>
          </a:xfrm>
          <a:prstGeom prst="rect">
            <a:avLst/>
          </a:prstGeom>
        </p:spPr>
      </p:pic>
      <p:pic>
        <p:nvPicPr>
          <p:cNvPr id="6" name="Picture 5" descr="Closeup of a dark coffee on a mug">
            <a:extLst>
              <a:ext uri="{FF2B5EF4-FFF2-40B4-BE49-F238E27FC236}">
                <a16:creationId xmlns:a16="http://schemas.microsoft.com/office/drawing/2014/main" id="{043D0B0B-1044-D333-74C3-CCBF0EF12994}"/>
              </a:ext>
            </a:extLst>
          </p:cNvPr>
          <p:cNvPicPr>
            <a:picLocks noChangeAspect="1"/>
          </p:cNvPicPr>
          <p:nvPr/>
        </p:nvPicPr>
        <p:blipFill>
          <a:blip r:embed="rId4">
            <a:extLst>
              <a:ext uri="{28A0092B-C50C-407E-A947-70E740481C1C}">
                <a14:useLocalDpi xmlns:a14="http://schemas.microsoft.com/office/drawing/2010/main" val="0"/>
              </a:ext>
            </a:extLst>
          </a:blip>
          <a:srcRect l="26478" r="27308" b="1"/>
          <a:stretch>
            <a:fillRect/>
          </a:stretch>
        </p:blipFill>
        <p:spPr>
          <a:xfrm>
            <a:off x="3973987" y="1773936"/>
            <a:ext cx="3163824" cy="4535424"/>
          </a:xfrm>
          <a:prstGeom prst="rect">
            <a:avLst/>
          </a:prstGeom>
        </p:spPr>
      </p:pic>
      <p:sp>
        <p:nvSpPr>
          <p:cNvPr id="8" name="Slide Number Placeholder 7">
            <a:extLst>
              <a:ext uri="{FF2B5EF4-FFF2-40B4-BE49-F238E27FC236}">
                <a16:creationId xmlns:a16="http://schemas.microsoft.com/office/drawing/2014/main" id="{1BA30C31-7602-617F-A48A-C21DB2387C45}"/>
              </a:ext>
            </a:extLst>
          </p:cNvPr>
          <p:cNvSpPr>
            <a:spLocks noGrp="1"/>
          </p:cNvSpPr>
          <p:nvPr>
            <p:ph type="sldNum" sz="quarter" idx="12"/>
          </p:nvPr>
        </p:nvSpPr>
        <p:spPr>
          <a:xfrm>
            <a:off x="11632162" y="6453002"/>
            <a:ext cx="429207" cy="365125"/>
          </a:xfrm>
        </p:spPr>
        <p:txBody>
          <a:bodyPr>
            <a:normAutofit/>
          </a:bodyPr>
          <a:lstStyle/>
          <a:p>
            <a:pPr>
              <a:spcAft>
                <a:spcPts val="600"/>
              </a:spcAft>
            </a:pPr>
            <a:fld id="{CC057153-B650-4DEB-B370-79DDCFDCE934}" type="slidenum">
              <a:rPr lang="en-US" smtClean="0"/>
              <a:pPr>
                <a:spcAft>
                  <a:spcPts val="600"/>
                </a:spcAft>
              </a:pPr>
              <a:t>2</a:t>
            </a:fld>
            <a:endParaRPr lang="en-US"/>
          </a:p>
        </p:txBody>
      </p:sp>
      <p:graphicFrame>
        <p:nvGraphicFramePr>
          <p:cNvPr id="5" name="Content Placeholder 2">
            <a:extLst>
              <a:ext uri="{FF2B5EF4-FFF2-40B4-BE49-F238E27FC236}">
                <a16:creationId xmlns:a16="http://schemas.microsoft.com/office/drawing/2014/main" id="{6FB6DC49-E458-5B12-72B1-F74E883DB572}"/>
              </a:ext>
            </a:extLst>
          </p:cNvPr>
          <p:cNvGraphicFramePr>
            <a:graphicFrameLocks noGrp="1"/>
          </p:cNvGraphicFramePr>
          <p:nvPr>
            <p:ph idx="1"/>
            <p:extLst>
              <p:ext uri="{D42A27DB-BD31-4B8C-83A1-F6EECF244321}">
                <p14:modId xmlns:p14="http://schemas.microsoft.com/office/powerpoint/2010/main" val="2756909595"/>
              </p:ext>
            </p:extLst>
          </p:nvPr>
        </p:nvGraphicFramePr>
        <p:xfrm>
          <a:off x="7485529" y="1775012"/>
          <a:ext cx="3999334" cy="453434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64308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770D0-5381-2FE1-547C-CB1E221DF675}"/>
              </a:ext>
            </a:extLst>
          </p:cNvPr>
          <p:cNvSpPr>
            <a:spLocks noGrp="1"/>
          </p:cNvSpPr>
          <p:nvPr>
            <p:ph type="title"/>
          </p:nvPr>
        </p:nvSpPr>
        <p:spPr/>
        <p:txBody>
          <a:bodyPr/>
          <a:lstStyle/>
          <a:p>
            <a:r>
              <a:rPr lang="en-US" dirty="0"/>
              <a:t>Why This Matters</a:t>
            </a:r>
          </a:p>
        </p:txBody>
      </p:sp>
      <p:sp>
        <p:nvSpPr>
          <p:cNvPr id="3" name="Content Placeholder 2">
            <a:extLst>
              <a:ext uri="{FF2B5EF4-FFF2-40B4-BE49-F238E27FC236}">
                <a16:creationId xmlns:a16="http://schemas.microsoft.com/office/drawing/2014/main" id="{BDC591A4-BDE7-6BB0-86DC-BA67566A6270}"/>
              </a:ext>
            </a:extLst>
          </p:cNvPr>
          <p:cNvSpPr>
            <a:spLocks noGrp="1"/>
          </p:cNvSpPr>
          <p:nvPr>
            <p:ph idx="1"/>
          </p:nvPr>
        </p:nvSpPr>
        <p:spPr>
          <a:xfrm>
            <a:off x="612647" y="1715532"/>
            <a:ext cx="10653579" cy="2046999"/>
          </a:xfrm>
        </p:spPr>
        <p:txBody>
          <a:bodyPr/>
          <a:lstStyle/>
          <a:p>
            <a:pPr marL="0" indent="0">
              <a:buNone/>
            </a:pPr>
            <a:r>
              <a:rPr lang="en-US" dirty="0"/>
              <a:t>Coffee quality is an important factor in price, consumer perception, and market value.</a:t>
            </a:r>
          </a:p>
          <a:p>
            <a:pPr marL="0" indent="0">
              <a:buNone/>
            </a:pPr>
            <a:r>
              <a:rPr lang="en-US" dirty="0"/>
              <a:t>Predicting quality could help improve crops and assist buyers in sourcing high-quality coffee.</a:t>
            </a:r>
          </a:p>
          <a:p>
            <a:pPr marL="0" indent="0">
              <a:buNone/>
            </a:pPr>
            <a:endParaRPr lang="en-US" dirty="0"/>
          </a:p>
        </p:txBody>
      </p:sp>
      <p:sp>
        <p:nvSpPr>
          <p:cNvPr id="4" name="TextBox 3">
            <a:extLst>
              <a:ext uri="{FF2B5EF4-FFF2-40B4-BE49-F238E27FC236}">
                <a16:creationId xmlns:a16="http://schemas.microsoft.com/office/drawing/2014/main" id="{FB6746D2-71D3-6E19-3C0D-3FE7AEE752BB}"/>
              </a:ext>
            </a:extLst>
          </p:cNvPr>
          <p:cNvSpPr txBox="1"/>
          <p:nvPr/>
        </p:nvSpPr>
        <p:spPr>
          <a:xfrm>
            <a:off x="612647" y="3762531"/>
            <a:ext cx="5483353" cy="923330"/>
          </a:xfrm>
          <a:prstGeom prst="rect">
            <a:avLst/>
          </a:prstGeom>
          <a:noFill/>
        </p:spPr>
        <p:txBody>
          <a:bodyPr wrap="square" rtlCol="0">
            <a:spAutoFit/>
          </a:bodyPr>
          <a:lstStyle/>
          <a:p>
            <a:r>
              <a:rPr lang="en-US" b="1" dirty="0"/>
              <a:t>Did you know?</a:t>
            </a:r>
          </a:p>
          <a:p>
            <a:r>
              <a:rPr lang="en-US" dirty="0"/>
              <a:t>Finland has the highest per capita of coffee consumption at 12kg per person annually.</a:t>
            </a:r>
          </a:p>
        </p:txBody>
      </p:sp>
      <p:pic>
        <p:nvPicPr>
          <p:cNvPr id="6" name="Picture 5" descr="Barista preparing coffee">
            <a:extLst>
              <a:ext uri="{FF2B5EF4-FFF2-40B4-BE49-F238E27FC236}">
                <a16:creationId xmlns:a16="http://schemas.microsoft.com/office/drawing/2014/main" id="{92F79FEC-DA9D-4CAA-54C6-D94293338B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5853" y="3234128"/>
            <a:ext cx="5143500" cy="3429000"/>
          </a:xfrm>
          <a:prstGeom prst="rect">
            <a:avLst/>
          </a:prstGeom>
        </p:spPr>
      </p:pic>
      <p:sp>
        <p:nvSpPr>
          <p:cNvPr id="11" name="Slide Number Placeholder 10">
            <a:extLst>
              <a:ext uri="{FF2B5EF4-FFF2-40B4-BE49-F238E27FC236}">
                <a16:creationId xmlns:a16="http://schemas.microsoft.com/office/drawing/2014/main" id="{0529E8E8-A6D6-C130-B4BA-F7A4507CCA73}"/>
              </a:ext>
            </a:extLst>
          </p:cNvPr>
          <p:cNvSpPr>
            <a:spLocks noGrp="1"/>
          </p:cNvSpPr>
          <p:nvPr>
            <p:ph type="sldNum" sz="quarter" idx="12"/>
          </p:nvPr>
        </p:nvSpPr>
        <p:spPr/>
        <p:txBody>
          <a:bodyPr/>
          <a:lstStyle/>
          <a:p>
            <a:fld id="{CC057153-B650-4DEB-B370-79DDCFDCE934}" type="slidenum">
              <a:rPr lang="en-US" smtClean="0"/>
              <a:t>3</a:t>
            </a:fld>
            <a:endParaRPr lang="en-US"/>
          </a:p>
        </p:txBody>
      </p:sp>
    </p:spTree>
    <p:extLst>
      <p:ext uri="{BB962C8B-B14F-4D97-AF65-F5344CB8AC3E}">
        <p14:creationId xmlns:p14="http://schemas.microsoft.com/office/powerpoint/2010/main" val="370431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77D986-3E64-5DE0-E1E2-8B3BDA7E6157}"/>
              </a:ext>
            </a:extLst>
          </p:cNvPr>
          <p:cNvSpPr>
            <a:spLocks noGrp="1"/>
          </p:cNvSpPr>
          <p:nvPr>
            <p:ph type="title"/>
          </p:nvPr>
        </p:nvSpPr>
        <p:spPr>
          <a:xfrm>
            <a:off x="612649" y="548638"/>
            <a:ext cx="3493008" cy="5788152"/>
          </a:xfrm>
        </p:spPr>
        <p:txBody>
          <a:bodyPr anchor="ctr">
            <a:normAutofit/>
          </a:bodyPr>
          <a:lstStyle/>
          <a:p>
            <a:r>
              <a:rPr lang="en-US" sz="4000"/>
              <a:t>Methodology and Model Choice</a:t>
            </a:r>
          </a:p>
        </p:txBody>
      </p:sp>
      <p:graphicFrame>
        <p:nvGraphicFramePr>
          <p:cNvPr id="5" name="Content Placeholder 2">
            <a:extLst>
              <a:ext uri="{FF2B5EF4-FFF2-40B4-BE49-F238E27FC236}">
                <a16:creationId xmlns:a16="http://schemas.microsoft.com/office/drawing/2014/main" id="{A97FA411-A95B-B48C-0789-1676D5E28AA8}"/>
              </a:ext>
            </a:extLst>
          </p:cNvPr>
          <p:cNvGraphicFramePr>
            <a:graphicFrameLocks noGrp="1"/>
          </p:cNvGraphicFramePr>
          <p:nvPr>
            <p:ph idx="1"/>
            <p:extLst>
              <p:ext uri="{D42A27DB-BD31-4B8C-83A1-F6EECF244321}">
                <p14:modId xmlns:p14="http://schemas.microsoft.com/office/powerpoint/2010/main" val="4056800512"/>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20807EE9-4A92-7C13-72BF-841DE8DD3381}"/>
              </a:ext>
            </a:extLst>
          </p:cNvPr>
          <p:cNvSpPr>
            <a:spLocks noGrp="1"/>
          </p:cNvSpPr>
          <p:nvPr>
            <p:ph type="sldNum" sz="quarter" idx="12"/>
          </p:nvPr>
        </p:nvSpPr>
        <p:spPr/>
        <p:txBody>
          <a:bodyPr/>
          <a:lstStyle/>
          <a:p>
            <a:fld id="{CC057153-B650-4DEB-B370-79DDCFDCE934}" type="slidenum">
              <a:rPr lang="en-US" smtClean="0"/>
              <a:t>4</a:t>
            </a:fld>
            <a:endParaRPr lang="en-US"/>
          </a:p>
        </p:txBody>
      </p:sp>
    </p:spTree>
    <p:extLst>
      <p:ext uri="{BB962C8B-B14F-4D97-AF65-F5344CB8AC3E}">
        <p14:creationId xmlns:p14="http://schemas.microsoft.com/office/powerpoint/2010/main" val="4115605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E06D18-FF00-2545-418C-514FC9A4558C}"/>
              </a:ext>
            </a:extLst>
          </p:cNvPr>
          <p:cNvSpPr>
            <a:spLocks noGrp="1"/>
          </p:cNvSpPr>
          <p:nvPr>
            <p:ph type="title"/>
          </p:nvPr>
        </p:nvSpPr>
        <p:spPr>
          <a:xfrm>
            <a:off x="612649" y="548638"/>
            <a:ext cx="3493008" cy="5788152"/>
          </a:xfrm>
        </p:spPr>
        <p:txBody>
          <a:bodyPr anchor="ctr">
            <a:normAutofit/>
          </a:bodyPr>
          <a:lstStyle/>
          <a:p>
            <a:r>
              <a:rPr lang="en-US" sz="4000" dirty="0"/>
              <a:t>Research Questions: What are we trying to find?</a:t>
            </a:r>
          </a:p>
        </p:txBody>
      </p:sp>
      <p:graphicFrame>
        <p:nvGraphicFramePr>
          <p:cNvPr id="5" name="Content Placeholder 2">
            <a:extLst>
              <a:ext uri="{FF2B5EF4-FFF2-40B4-BE49-F238E27FC236}">
                <a16:creationId xmlns:a16="http://schemas.microsoft.com/office/drawing/2014/main" id="{CC9253E5-5D54-D5A0-0079-E5F86236E9C6}"/>
              </a:ext>
            </a:extLst>
          </p:cNvPr>
          <p:cNvGraphicFramePr>
            <a:graphicFrameLocks noGrp="1"/>
          </p:cNvGraphicFramePr>
          <p:nvPr>
            <p:ph idx="1"/>
            <p:extLst>
              <p:ext uri="{D42A27DB-BD31-4B8C-83A1-F6EECF244321}">
                <p14:modId xmlns:p14="http://schemas.microsoft.com/office/powerpoint/2010/main" val="2476247261"/>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41E1BDC4-504C-58B7-0113-732F604121A0}"/>
              </a:ext>
            </a:extLst>
          </p:cNvPr>
          <p:cNvSpPr>
            <a:spLocks noGrp="1"/>
          </p:cNvSpPr>
          <p:nvPr>
            <p:ph type="sldNum" sz="quarter" idx="12"/>
          </p:nvPr>
        </p:nvSpPr>
        <p:spPr/>
        <p:txBody>
          <a:bodyPr/>
          <a:lstStyle/>
          <a:p>
            <a:fld id="{CC057153-B650-4DEB-B370-79DDCFDCE934}" type="slidenum">
              <a:rPr lang="en-US" smtClean="0"/>
              <a:t>5</a:t>
            </a:fld>
            <a:endParaRPr lang="en-US"/>
          </a:p>
        </p:txBody>
      </p:sp>
    </p:spTree>
    <p:extLst>
      <p:ext uri="{BB962C8B-B14F-4D97-AF65-F5344CB8AC3E}">
        <p14:creationId xmlns:p14="http://schemas.microsoft.com/office/powerpoint/2010/main" val="1060792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8D7A26-F013-1193-E5EE-BC49D262F9B7}"/>
              </a:ext>
            </a:extLst>
          </p:cNvPr>
          <p:cNvSpPr>
            <a:spLocks noGrp="1"/>
          </p:cNvSpPr>
          <p:nvPr>
            <p:ph type="title"/>
          </p:nvPr>
        </p:nvSpPr>
        <p:spPr>
          <a:xfrm>
            <a:off x="612648" y="600074"/>
            <a:ext cx="6035040" cy="1529932"/>
          </a:xfrm>
        </p:spPr>
        <p:txBody>
          <a:bodyPr anchor="b">
            <a:normAutofit/>
          </a:bodyPr>
          <a:lstStyle/>
          <a:p>
            <a:r>
              <a:rPr lang="en-US" dirty="0"/>
              <a:t>The Data</a:t>
            </a:r>
          </a:p>
        </p:txBody>
      </p:sp>
      <p:sp>
        <p:nvSpPr>
          <p:cNvPr id="3" name="Content Placeholder 2">
            <a:extLst>
              <a:ext uri="{FF2B5EF4-FFF2-40B4-BE49-F238E27FC236}">
                <a16:creationId xmlns:a16="http://schemas.microsoft.com/office/drawing/2014/main" id="{6BBACDEC-8C24-9471-C35F-E7B043FA2669}"/>
              </a:ext>
            </a:extLst>
          </p:cNvPr>
          <p:cNvSpPr>
            <a:spLocks noGrp="1"/>
          </p:cNvSpPr>
          <p:nvPr>
            <p:ph idx="1"/>
          </p:nvPr>
        </p:nvSpPr>
        <p:spPr>
          <a:xfrm>
            <a:off x="612647" y="2212848"/>
            <a:ext cx="6035041" cy="4096512"/>
          </a:xfrm>
        </p:spPr>
        <p:txBody>
          <a:bodyPr>
            <a:normAutofit/>
          </a:bodyPr>
          <a:lstStyle/>
          <a:p>
            <a:pPr marL="0" indent="0">
              <a:buNone/>
            </a:pPr>
            <a:r>
              <a:rPr lang="en-US" sz="1800" dirty="0"/>
              <a:t>The dataset “Coffee Quality database from Coffee Quality Institute was used, which has 44 columns, such as altitude, country of origin, region, processing methods, etc. </a:t>
            </a:r>
          </a:p>
          <a:p>
            <a:pPr marL="0" indent="0">
              <a:buNone/>
            </a:pPr>
            <a:r>
              <a:rPr lang="en-US" sz="1800" dirty="0"/>
              <a:t>The main columns that contribute to the cupping score are Aroma, Flavor, Aftertaste, Body, Balance, and Uniformity, all traits that seasoned coffee tasters look for when cupping coffee.</a:t>
            </a:r>
          </a:p>
        </p:txBody>
      </p:sp>
      <p:pic>
        <p:nvPicPr>
          <p:cNvPr id="5" name="Picture 4" descr="Coffee Machine and Cup">
            <a:extLst>
              <a:ext uri="{FF2B5EF4-FFF2-40B4-BE49-F238E27FC236}">
                <a16:creationId xmlns:a16="http://schemas.microsoft.com/office/drawing/2014/main" id="{283D6F40-64CA-161D-C190-8818AD68E1BC}"/>
              </a:ext>
            </a:extLst>
          </p:cNvPr>
          <p:cNvPicPr>
            <a:picLocks noChangeAspect="1"/>
          </p:cNvPicPr>
          <p:nvPr/>
        </p:nvPicPr>
        <p:blipFill>
          <a:blip r:embed="rId3"/>
          <a:srcRect l="22224" r="30605" b="-1"/>
          <a:stretch>
            <a:fillRect/>
          </a:stretch>
        </p:blipFill>
        <p:spPr>
          <a:xfrm>
            <a:off x="7345680" y="10"/>
            <a:ext cx="4846320" cy="6857990"/>
          </a:xfrm>
          <a:prstGeom prst="rect">
            <a:avLst/>
          </a:prstGeom>
        </p:spPr>
      </p:pic>
      <p:pic>
        <p:nvPicPr>
          <p:cNvPr id="6" name="Picture 5">
            <a:extLst>
              <a:ext uri="{FF2B5EF4-FFF2-40B4-BE49-F238E27FC236}">
                <a16:creationId xmlns:a16="http://schemas.microsoft.com/office/drawing/2014/main" id="{DF677438-EB00-3B7B-0915-B19618196AA9}"/>
              </a:ext>
            </a:extLst>
          </p:cNvPr>
          <p:cNvPicPr>
            <a:picLocks noChangeAspect="1"/>
          </p:cNvPicPr>
          <p:nvPr/>
        </p:nvPicPr>
        <p:blipFill>
          <a:blip r:embed="rId4"/>
          <a:stretch>
            <a:fillRect/>
          </a:stretch>
        </p:blipFill>
        <p:spPr>
          <a:xfrm>
            <a:off x="4780516" y="5638620"/>
            <a:ext cx="7411484" cy="1219370"/>
          </a:xfrm>
          <a:prstGeom prst="rect">
            <a:avLst/>
          </a:prstGeom>
        </p:spPr>
      </p:pic>
      <p:sp>
        <p:nvSpPr>
          <p:cNvPr id="7" name="TextBox 6">
            <a:extLst>
              <a:ext uri="{FF2B5EF4-FFF2-40B4-BE49-F238E27FC236}">
                <a16:creationId xmlns:a16="http://schemas.microsoft.com/office/drawing/2014/main" id="{C9B08BDF-016A-58B4-BB2B-C69E00B75BD4}"/>
              </a:ext>
            </a:extLst>
          </p:cNvPr>
          <p:cNvSpPr txBox="1"/>
          <p:nvPr/>
        </p:nvSpPr>
        <p:spPr>
          <a:xfrm>
            <a:off x="86497" y="6248305"/>
            <a:ext cx="4694019" cy="523220"/>
          </a:xfrm>
          <a:prstGeom prst="rect">
            <a:avLst/>
          </a:prstGeom>
          <a:noFill/>
        </p:spPr>
        <p:txBody>
          <a:bodyPr wrap="square" rtlCol="0">
            <a:spAutoFit/>
          </a:bodyPr>
          <a:lstStyle/>
          <a:p>
            <a:r>
              <a:rPr lang="en-US" sz="1400" dirty="0"/>
              <a:t>https://www.kaggle.com/datasets/volpatto/coffee-quality-database-from-cqi?resource=download</a:t>
            </a:r>
          </a:p>
        </p:txBody>
      </p:sp>
      <p:sp>
        <p:nvSpPr>
          <p:cNvPr id="10" name="Slide Number Placeholder 9">
            <a:extLst>
              <a:ext uri="{FF2B5EF4-FFF2-40B4-BE49-F238E27FC236}">
                <a16:creationId xmlns:a16="http://schemas.microsoft.com/office/drawing/2014/main" id="{65B84807-E9D6-7BC5-D722-C43D191815FB}"/>
              </a:ext>
            </a:extLst>
          </p:cNvPr>
          <p:cNvSpPr>
            <a:spLocks noGrp="1"/>
          </p:cNvSpPr>
          <p:nvPr>
            <p:ph type="sldNum" sz="quarter" idx="12"/>
          </p:nvPr>
        </p:nvSpPr>
        <p:spPr/>
        <p:txBody>
          <a:bodyPr/>
          <a:lstStyle/>
          <a:p>
            <a:fld id="{CC057153-B650-4DEB-B370-79DDCFDCE934}" type="slidenum">
              <a:rPr lang="en-US" smtClean="0"/>
              <a:t>6</a:t>
            </a:fld>
            <a:endParaRPr lang="en-US"/>
          </a:p>
        </p:txBody>
      </p:sp>
    </p:spTree>
    <p:extLst>
      <p:ext uri="{BB962C8B-B14F-4D97-AF65-F5344CB8AC3E}">
        <p14:creationId xmlns:p14="http://schemas.microsoft.com/office/powerpoint/2010/main" val="403627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7F3E6F82-836B-858F-ADED-19E9A71A00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5512F0-CC13-F77D-8751-D004A6C84012}"/>
              </a:ext>
            </a:extLst>
          </p:cNvPr>
          <p:cNvSpPr>
            <a:spLocks noGrp="1"/>
          </p:cNvSpPr>
          <p:nvPr>
            <p:ph type="title"/>
          </p:nvPr>
        </p:nvSpPr>
        <p:spPr>
          <a:xfrm>
            <a:off x="1729740" y="454924"/>
            <a:ext cx="8732520" cy="905256"/>
          </a:xfrm>
        </p:spPr>
        <p:txBody>
          <a:bodyPr vert="horz" lIns="91440" tIns="45720" rIns="91440" bIns="45720" rtlCol="0" anchor="b">
            <a:normAutofit/>
          </a:bodyPr>
          <a:lstStyle/>
          <a:p>
            <a:pPr algn="ctr"/>
            <a:r>
              <a:rPr lang="en-US" sz="4400"/>
              <a:t>Statistical Baseline</a:t>
            </a:r>
          </a:p>
        </p:txBody>
      </p:sp>
      <p:sp>
        <p:nvSpPr>
          <p:cNvPr id="3" name="Content Placeholder 2">
            <a:extLst>
              <a:ext uri="{FF2B5EF4-FFF2-40B4-BE49-F238E27FC236}">
                <a16:creationId xmlns:a16="http://schemas.microsoft.com/office/drawing/2014/main" id="{F4AADFC4-2EF1-9C2D-0F49-6F8B7F0806C6}"/>
              </a:ext>
            </a:extLst>
          </p:cNvPr>
          <p:cNvSpPr>
            <a:spLocks noGrp="1"/>
          </p:cNvSpPr>
          <p:nvPr>
            <p:ph idx="1"/>
          </p:nvPr>
        </p:nvSpPr>
        <p:spPr>
          <a:xfrm>
            <a:off x="1729740" y="1445870"/>
            <a:ext cx="8732520" cy="667512"/>
          </a:xfrm>
        </p:spPr>
        <p:txBody>
          <a:bodyPr vert="horz" lIns="91440" tIns="45720" rIns="91440" bIns="45720" rtlCol="0" anchor="t">
            <a:normAutofit/>
          </a:bodyPr>
          <a:lstStyle/>
          <a:p>
            <a:pPr marL="0" indent="0" algn="ctr">
              <a:lnSpc>
                <a:spcPct val="110000"/>
              </a:lnSpc>
              <a:buNone/>
            </a:pPr>
            <a:r>
              <a:rPr lang="en-US" sz="1700" dirty="0"/>
              <a:t>In this dataset, there are 1310 samples with a mean cupping score of about 82.18.</a:t>
            </a:r>
          </a:p>
        </p:txBody>
      </p:sp>
      <p:pic>
        <p:nvPicPr>
          <p:cNvPr id="2050" name="Picture 2">
            <a:extLst>
              <a:ext uri="{FF2B5EF4-FFF2-40B4-BE49-F238E27FC236}">
                <a16:creationId xmlns:a16="http://schemas.microsoft.com/office/drawing/2014/main" id="{4FC8E9E4-A464-B91F-3F5C-B04103472CA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14360" y="2715331"/>
            <a:ext cx="5567617" cy="325273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Table 11">
            <a:extLst>
              <a:ext uri="{FF2B5EF4-FFF2-40B4-BE49-F238E27FC236}">
                <a16:creationId xmlns:a16="http://schemas.microsoft.com/office/drawing/2014/main" id="{DB6B5CF4-C6BA-1C4E-9A31-141B4BE1547C}"/>
              </a:ext>
            </a:extLst>
          </p:cNvPr>
          <p:cNvGraphicFramePr>
            <a:graphicFrameLocks noGrp="1"/>
          </p:cNvGraphicFramePr>
          <p:nvPr>
            <p:extLst>
              <p:ext uri="{D42A27DB-BD31-4B8C-83A1-F6EECF244321}">
                <p14:modId xmlns:p14="http://schemas.microsoft.com/office/powerpoint/2010/main" val="4103522592"/>
              </p:ext>
            </p:extLst>
          </p:nvPr>
        </p:nvGraphicFramePr>
        <p:xfrm>
          <a:off x="6210024" y="2715331"/>
          <a:ext cx="5625723" cy="3135727"/>
        </p:xfrm>
        <a:graphic>
          <a:graphicData uri="http://schemas.openxmlformats.org/drawingml/2006/table">
            <a:tbl>
              <a:tblPr firstRow="1" bandRow="1">
                <a:tableStyleId>{8799B23B-EC83-4686-B30A-512413B5E67A}</a:tableStyleId>
              </a:tblPr>
              <a:tblGrid>
                <a:gridCol w="1707921">
                  <a:extLst>
                    <a:ext uri="{9D8B030D-6E8A-4147-A177-3AD203B41FA5}">
                      <a16:colId xmlns:a16="http://schemas.microsoft.com/office/drawing/2014/main" val="3004980106"/>
                    </a:ext>
                  </a:extLst>
                </a:gridCol>
                <a:gridCol w="3917802">
                  <a:extLst>
                    <a:ext uri="{9D8B030D-6E8A-4147-A177-3AD203B41FA5}">
                      <a16:colId xmlns:a16="http://schemas.microsoft.com/office/drawing/2014/main" val="2432826703"/>
                    </a:ext>
                  </a:extLst>
                </a:gridCol>
              </a:tblGrid>
              <a:tr h="447961">
                <a:tc>
                  <a:txBody>
                    <a:bodyPr/>
                    <a:lstStyle/>
                    <a:p>
                      <a:pPr algn="r">
                        <a:buNone/>
                      </a:pPr>
                      <a:endParaRPr lang="en-US" sz="2000" b="1">
                        <a:effectLst/>
                      </a:endParaRPr>
                    </a:p>
                  </a:txBody>
                  <a:tcPr marL="102835" marR="102835" marT="51418" marB="51418" anchor="ctr"/>
                </a:tc>
                <a:tc>
                  <a:txBody>
                    <a:bodyPr/>
                    <a:lstStyle/>
                    <a:p>
                      <a:pPr algn="r">
                        <a:buNone/>
                      </a:pPr>
                      <a:r>
                        <a:rPr lang="en-US" sz="2000" b="1">
                          <a:effectLst/>
                        </a:rPr>
                        <a:t>Total.Cup.Points</a:t>
                      </a:r>
                    </a:p>
                  </a:txBody>
                  <a:tcPr marL="102835" marR="102835" marT="51418" marB="51418" anchor="ctr"/>
                </a:tc>
                <a:extLst>
                  <a:ext uri="{0D108BD9-81ED-4DB2-BD59-A6C34878D82A}">
                    <a16:rowId xmlns:a16="http://schemas.microsoft.com/office/drawing/2014/main" val="3961772499"/>
                  </a:ext>
                </a:extLst>
              </a:tr>
              <a:tr h="447961">
                <a:tc>
                  <a:txBody>
                    <a:bodyPr/>
                    <a:lstStyle/>
                    <a:p>
                      <a:pPr fontAlgn="ctr">
                        <a:buNone/>
                      </a:pPr>
                      <a:r>
                        <a:rPr lang="en-US" sz="2000" b="1">
                          <a:effectLst/>
                        </a:rPr>
                        <a:t>count</a:t>
                      </a:r>
                    </a:p>
                  </a:txBody>
                  <a:tcPr marL="102835" marR="102835" marT="51418" marB="51418" anchor="ctr"/>
                </a:tc>
                <a:tc>
                  <a:txBody>
                    <a:bodyPr/>
                    <a:lstStyle/>
                    <a:p>
                      <a:pPr algn="r">
                        <a:buNone/>
                      </a:pPr>
                      <a:r>
                        <a:rPr lang="en-US" sz="2000">
                          <a:effectLst/>
                        </a:rPr>
                        <a:t>1310.00</a:t>
                      </a:r>
                    </a:p>
                  </a:txBody>
                  <a:tcPr marL="102835" marR="102835" marT="51418" marB="51418" anchor="ctr"/>
                </a:tc>
                <a:extLst>
                  <a:ext uri="{0D108BD9-81ED-4DB2-BD59-A6C34878D82A}">
                    <a16:rowId xmlns:a16="http://schemas.microsoft.com/office/drawing/2014/main" val="3367316886"/>
                  </a:ext>
                </a:extLst>
              </a:tr>
              <a:tr h="447961">
                <a:tc>
                  <a:txBody>
                    <a:bodyPr/>
                    <a:lstStyle/>
                    <a:p>
                      <a:pPr fontAlgn="ctr">
                        <a:buNone/>
                      </a:pPr>
                      <a:r>
                        <a:rPr lang="en-US" sz="2000" b="1">
                          <a:effectLst/>
                        </a:rPr>
                        <a:t>mean</a:t>
                      </a:r>
                    </a:p>
                  </a:txBody>
                  <a:tcPr marL="102835" marR="102835" marT="51418" marB="51418" anchor="ctr"/>
                </a:tc>
                <a:tc>
                  <a:txBody>
                    <a:bodyPr/>
                    <a:lstStyle/>
                    <a:p>
                      <a:pPr algn="r">
                        <a:buNone/>
                      </a:pPr>
                      <a:r>
                        <a:rPr lang="en-US" sz="2000">
                          <a:effectLst/>
                        </a:rPr>
                        <a:t>82.18</a:t>
                      </a:r>
                    </a:p>
                  </a:txBody>
                  <a:tcPr marL="102835" marR="102835" marT="51418" marB="51418" anchor="ctr"/>
                </a:tc>
                <a:extLst>
                  <a:ext uri="{0D108BD9-81ED-4DB2-BD59-A6C34878D82A}">
                    <a16:rowId xmlns:a16="http://schemas.microsoft.com/office/drawing/2014/main" val="1146895743"/>
                  </a:ext>
                </a:extLst>
              </a:tr>
              <a:tr h="447961">
                <a:tc>
                  <a:txBody>
                    <a:bodyPr/>
                    <a:lstStyle/>
                    <a:p>
                      <a:pPr fontAlgn="ctr">
                        <a:buNone/>
                      </a:pPr>
                      <a:r>
                        <a:rPr lang="en-US" sz="2000" b="1">
                          <a:effectLst/>
                        </a:rPr>
                        <a:t>std</a:t>
                      </a:r>
                    </a:p>
                  </a:txBody>
                  <a:tcPr marL="102835" marR="102835" marT="51418" marB="51418" anchor="ctr"/>
                </a:tc>
                <a:tc>
                  <a:txBody>
                    <a:bodyPr/>
                    <a:lstStyle/>
                    <a:p>
                      <a:pPr algn="r">
                        <a:buNone/>
                      </a:pPr>
                      <a:r>
                        <a:rPr lang="en-US" sz="2000">
                          <a:effectLst/>
                        </a:rPr>
                        <a:t>2.69</a:t>
                      </a:r>
                    </a:p>
                  </a:txBody>
                  <a:tcPr marL="102835" marR="102835" marT="51418" marB="51418" anchor="ctr"/>
                </a:tc>
                <a:extLst>
                  <a:ext uri="{0D108BD9-81ED-4DB2-BD59-A6C34878D82A}">
                    <a16:rowId xmlns:a16="http://schemas.microsoft.com/office/drawing/2014/main" val="1232552574"/>
                  </a:ext>
                </a:extLst>
              </a:tr>
              <a:tr h="447961">
                <a:tc>
                  <a:txBody>
                    <a:bodyPr/>
                    <a:lstStyle/>
                    <a:p>
                      <a:pPr fontAlgn="ctr">
                        <a:buNone/>
                      </a:pPr>
                      <a:r>
                        <a:rPr lang="en-US" sz="2000" b="1">
                          <a:effectLst/>
                        </a:rPr>
                        <a:t>min</a:t>
                      </a:r>
                    </a:p>
                  </a:txBody>
                  <a:tcPr marL="102835" marR="102835" marT="51418" marB="51418" anchor="ctr"/>
                </a:tc>
                <a:tc>
                  <a:txBody>
                    <a:bodyPr/>
                    <a:lstStyle/>
                    <a:p>
                      <a:pPr algn="r">
                        <a:buNone/>
                      </a:pPr>
                      <a:r>
                        <a:rPr lang="en-US" sz="2000">
                          <a:effectLst/>
                        </a:rPr>
                        <a:t>59.83</a:t>
                      </a:r>
                    </a:p>
                  </a:txBody>
                  <a:tcPr marL="102835" marR="102835" marT="51418" marB="51418" anchor="ctr"/>
                </a:tc>
                <a:extLst>
                  <a:ext uri="{0D108BD9-81ED-4DB2-BD59-A6C34878D82A}">
                    <a16:rowId xmlns:a16="http://schemas.microsoft.com/office/drawing/2014/main" val="1500593327"/>
                  </a:ext>
                </a:extLst>
              </a:tr>
              <a:tr h="447961">
                <a:tc>
                  <a:txBody>
                    <a:bodyPr/>
                    <a:lstStyle/>
                    <a:p>
                      <a:pPr fontAlgn="ctr">
                        <a:buNone/>
                      </a:pPr>
                      <a:r>
                        <a:rPr lang="en-US" sz="2000" b="1">
                          <a:effectLst/>
                        </a:rPr>
                        <a:t>max</a:t>
                      </a:r>
                    </a:p>
                  </a:txBody>
                  <a:tcPr marL="102835" marR="102835" marT="51418" marB="51418" anchor="ctr"/>
                </a:tc>
                <a:tc>
                  <a:txBody>
                    <a:bodyPr/>
                    <a:lstStyle/>
                    <a:p>
                      <a:pPr algn="r">
                        <a:buNone/>
                      </a:pPr>
                      <a:r>
                        <a:rPr lang="en-US" sz="2000">
                          <a:effectLst/>
                        </a:rPr>
                        <a:t>90.58</a:t>
                      </a:r>
                    </a:p>
                  </a:txBody>
                  <a:tcPr marL="102835" marR="102835" marT="51418" marB="51418" anchor="ctr"/>
                </a:tc>
                <a:extLst>
                  <a:ext uri="{0D108BD9-81ED-4DB2-BD59-A6C34878D82A}">
                    <a16:rowId xmlns:a16="http://schemas.microsoft.com/office/drawing/2014/main" val="1244552659"/>
                  </a:ext>
                </a:extLst>
              </a:tr>
              <a:tr h="447961">
                <a:tc>
                  <a:txBody>
                    <a:bodyPr/>
                    <a:lstStyle/>
                    <a:p>
                      <a:pPr fontAlgn="ctr">
                        <a:buNone/>
                      </a:pPr>
                      <a:r>
                        <a:rPr lang="en-US" sz="2000" b="1">
                          <a:effectLst/>
                        </a:rPr>
                        <a:t>range</a:t>
                      </a:r>
                    </a:p>
                  </a:txBody>
                  <a:tcPr marL="102835" marR="102835" marT="51418" marB="51418" anchor="ctr"/>
                </a:tc>
                <a:tc>
                  <a:txBody>
                    <a:bodyPr/>
                    <a:lstStyle/>
                    <a:p>
                      <a:pPr algn="r">
                        <a:buNone/>
                      </a:pPr>
                      <a:r>
                        <a:rPr lang="en-US" sz="2000">
                          <a:effectLst/>
                        </a:rPr>
                        <a:t>59.83 – 90.58</a:t>
                      </a:r>
                    </a:p>
                  </a:txBody>
                  <a:tcPr marL="102835" marR="102835" marT="51418" marB="51418" anchor="ctr"/>
                </a:tc>
                <a:extLst>
                  <a:ext uri="{0D108BD9-81ED-4DB2-BD59-A6C34878D82A}">
                    <a16:rowId xmlns:a16="http://schemas.microsoft.com/office/drawing/2014/main" val="2200724734"/>
                  </a:ext>
                </a:extLst>
              </a:tr>
            </a:tbl>
          </a:graphicData>
        </a:graphic>
      </p:graphicFrame>
      <p:sp>
        <p:nvSpPr>
          <p:cNvPr id="15" name="TextBox 14">
            <a:extLst>
              <a:ext uri="{FF2B5EF4-FFF2-40B4-BE49-F238E27FC236}">
                <a16:creationId xmlns:a16="http://schemas.microsoft.com/office/drawing/2014/main" id="{7CEA3785-B49C-DE91-5D03-9BEA12EB99EB}"/>
              </a:ext>
            </a:extLst>
          </p:cNvPr>
          <p:cNvSpPr txBox="1"/>
          <p:nvPr/>
        </p:nvSpPr>
        <p:spPr>
          <a:xfrm>
            <a:off x="1416568" y="2229742"/>
            <a:ext cx="4793456" cy="369332"/>
          </a:xfrm>
          <a:prstGeom prst="rect">
            <a:avLst/>
          </a:prstGeom>
          <a:noFill/>
        </p:spPr>
        <p:txBody>
          <a:bodyPr wrap="square" rtlCol="0">
            <a:spAutoFit/>
          </a:bodyPr>
          <a:lstStyle/>
          <a:p>
            <a:r>
              <a:rPr lang="en-US" dirty="0"/>
              <a:t>Visualization of Correlated Features</a:t>
            </a:r>
          </a:p>
        </p:txBody>
      </p:sp>
      <p:sp>
        <p:nvSpPr>
          <p:cNvPr id="16" name="TextBox 15">
            <a:extLst>
              <a:ext uri="{FF2B5EF4-FFF2-40B4-BE49-F238E27FC236}">
                <a16:creationId xmlns:a16="http://schemas.microsoft.com/office/drawing/2014/main" id="{05A79768-02CA-0AA0-C6A7-F8DA5A119750}"/>
              </a:ext>
            </a:extLst>
          </p:cNvPr>
          <p:cNvSpPr txBox="1"/>
          <p:nvPr/>
        </p:nvSpPr>
        <p:spPr>
          <a:xfrm>
            <a:off x="6626157" y="2287871"/>
            <a:ext cx="4793456" cy="369332"/>
          </a:xfrm>
          <a:prstGeom prst="rect">
            <a:avLst/>
          </a:prstGeom>
          <a:noFill/>
        </p:spPr>
        <p:txBody>
          <a:bodyPr wrap="square" rtlCol="0">
            <a:spAutoFit/>
          </a:bodyPr>
          <a:lstStyle/>
          <a:p>
            <a:r>
              <a:rPr lang="en-US" dirty="0"/>
              <a:t>Statistical Baseline of Total Cupping Points</a:t>
            </a:r>
          </a:p>
        </p:txBody>
      </p:sp>
      <p:sp>
        <p:nvSpPr>
          <p:cNvPr id="18" name="Slide Number Placeholder 17">
            <a:extLst>
              <a:ext uri="{FF2B5EF4-FFF2-40B4-BE49-F238E27FC236}">
                <a16:creationId xmlns:a16="http://schemas.microsoft.com/office/drawing/2014/main" id="{6F1A9776-D7D6-D91F-8B47-0006D928CF8C}"/>
              </a:ext>
            </a:extLst>
          </p:cNvPr>
          <p:cNvSpPr>
            <a:spLocks noGrp="1"/>
          </p:cNvSpPr>
          <p:nvPr>
            <p:ph type="sldNum" sz="quarter" idx="12"/>
          </p:nvPr>
        </p:nvSpPr>
        <p:spPr/>
        <p:txBody>
          <a:bodyPr/>
          <a:lstStyle/>
          <a:p>
            <a:fld id="{CC057153-B650-4DEB-B370-79DDCFDCE934}" type="slidenum">
              <a:rPr lang="en-US" smtClean="0"/>
              <a:t>7</a:t>
            </a:fld>
            <a:endParaRPr lang="en-US"/>
          </a:p>
        </p:txBody>
      </p:sp>
    </p:spTree>
    <p:extLst>
      <p:ext uri="{BB962C8B-B14F-4D97-AF65-F5344CB8AC3E}">
        <p14:creationId xmlns:p14="http://schemas.microsoft.com/office/powerpoint/2010/main" val="109303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0135D4-D3A1-4556-B91B-4A12069D4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des on papers">
            <a:extLst>
              <a:ext uri="{FF2B5EF4-FFF2-40B4-BE49-F238E27FC236}">
                <a16:creationId xmlns:a16="http://schemas.microsoft.com/office/drawing/2014/main" id="{A2E4332A-136A-9F52-574D-C8714CA7348F}"/>
              </a:ext>
            </a:extLst>
          </p:cNvPr>
          <p:cNvPicPr>
            <a:picLocks noChangeAspect="1"/>
          </p:cNvPicPr>
          <p:nvPr/>
        </p:nvPicPr>
        <p:blipFill>
          <a:blip r:embed="rId3"/>
          <a:srcRect t="6097" b="9634"/>
          <a:stretch>
            <a:fillRect/>
          </a:stretch>
        </p:blipFill>
        <p:spPr>
          <a:xfrm>
            <a:off x="20" y="-1"/>
            <a:ext cx="12191980" cy="6858001"/>
          </a:xfrm>
          <a:prstGeom prst="rect">
            <a:avLst/>
          </a:prstGeom>
        </p:spPr>
      </p:pic>
      <p:sp>
        <p:nvSpPr>
          <p:cNvPr id="10" name="Rectangle 9">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2015" y="-752015"/>
            <a:ext cx="6858000" cy="8362030"/>
          </a:xfrm>
          <a:prstGeom prst="rect">
            <a:avLst/>
          </a:prstGeom>
          <a:gradFill>
            <a:gsLst>
              <a:gs pos="0">
                <a:srgbClr val="000000">
                  <a:alpha val="0"/>
                </a:srgbClr>
              </a:gs>
              <a:gs pos="55000">
                <a:srgbClr val="000000">
                  <a:alpha val="50000"/>
                </a:srgbClr>
              </a:gs>
              <a:gs pos="100000">
                <a:srgbClr val="000000">
                  <a:alpha val="6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27E0F0-692B-431F-1B40-9F17984FEFCA}"/>
              </a:ext>
            </a:extLst>
          </p:cNvPr>
          <p:cNvSpPr>
            <a:spLocks noGrp="1"/>
          </p:cNvSpPr>
          <p:nvPr>
            <p:ph type="title"/>
          </p:nvPr>
        </p:nvSpPr>
        <p:spPr>
          <a:xfrm>
            <a:off x="626918" y="3429000"/>
            <a:ext cx="4506064" cy="1888742"/>
          </a:xfrm>
        </p:spPr>
        <p:txBody>
          <a:bodyPr vert="horz" lIns="91440" tIns="45720" rIns="91440" bIns="45720" rtlCol="0" anchor="b">
            <a:normAutofit/>
          </a:bodyPr>
          <a:lstStyle/>
          <a:p>
            <a:r>
              <a:rPr lang="en-US" sz="4000">
                <a:solidFill>
                  <a:srgbClr val="FFFFFF"/>
                </a:solidFill>
              </a:rPr>
              <a:t>XGBoost: Regression and Classification</a:t>
            </a:r>
          </a:p>
        </p:txBody>
      </p:sp>
      <p:sp>
        <p:nvSpPr>
          <p:cNvPr id="9" name="Slide Number Placeholder 8">
            <a:extLst>
              <a:ext uri="{FF2B5EF4-FFF2-40B4-BE49-F238E27FC236}">
                <a16:creationId xmlns:a16="http://schemas.microsoft.com/office/drawing/2014/main" id="{268582FC-BBF5-3E6D-63FD-262C599858C5}"/>
              </a:ext>
            </a:extLst>
          </p:cNvPr>
          <p:cNvSpPr>
            <a:spLocks noGrp="1"/>
          </p:cNvSpPr>
          <p:nvPr>
            <p:ph type="sldNum" sz="quarter" idx="12"/>
          </p:nvPr>
        </p:nvSpPr>
        <p:spPr/>
        <p:txBody>
          <a:bodyPr/>
          <a:lstStyle/>
          <a:p>
            <a:fld id="{CC057153-B650-4DEB-B370-79DDCFDCE934}" type="slidenum">
              <a:rPr lang="en-US" smtClean="0"/>
              <a:t>8</a:t>
            </a:fld>
            <a:endParaRPr lang="en-US"/>
          </a:p>
        </p:txBody>
      </p:sp>
    </p:spTree>
    <p:extLst>
      <p:ext uri="{BB962C8B-B14F-4D97-AF65-F5344CB8AC3E}">
        <p14:creationId xmlns:p14="http://schemas.microsoft.com/office/powerpoint/2010/main" val="126815818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8633A-9A7D-7511-F931-41B24B0118FD}"/>
              </a:ext>
            </a:extLst>
          </p:cNvPr>
          <p:cNvSpPr>
            <a:spLocks noGrp="1"/>
          </p:cNvSpPr>
          <p:nvPr>
            <p:ph type="title"/>
          </p:nvPr>
        </p:nvSpPr>
        <p:spPr/>
        <p:txBody>
          <a:bodyPr/>
          <a:lstStyle/>
          <a:p>
            <a:r>
              <a:rPr lang="en-US" dirty="0" err="1"/>
              <a:t>XGBoost</a:t>
            </a:r>
            <a:r>
              <a:rPr lang="en-US" dirty="0"/>
              <a:t>: Regression Model</a:t>
            </a:r>
          </a:p>
        </p:txBody>
      </p:sp>
      <p:pic>
        <p:nvPicPr>
          <p:cNvPr id="6146" name="Picture 2">
            <a:extLst>
              <a:ext uri="{FF2B5EF4-FFF2-40B4-BE49-F238E27FC236}">
                <a16:creationId xmlns:a16="http://schemas.microsoft.com/office/drawing/2014/main" id="{66E9D73B-C136-F769-12E9-178E895715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631" y="3030075"/>
            <a:ext cx="5973427" cy="356352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D8B437D-ECE8-1954-A911-ECA01184FB7F}"/>
              </a:ext>
            </a:extLst>
          </p:cNvPr>
          <p:cNvSpPr txBox="1"/>
          <p:nvPr/>
        </p:nvSpPr>
        <p:spPr>
          <a:xfrm>
            <a:off x="442363" y="1206710"/>
            <a:ext cx="4009715" cy="1631216"/>
          </a:xfrm>
          <a:prstGeom prst="rect">
            <a:avLst/>
          </a:prstGeom>
          <a:noFill/>
        </p:spPr>
        <p:txBody>
          <a:bodyPr wrap="square" rtlCol="0">
            <a:spAutoFit/>
          </a:bodyPr>
          <a:lstStyle/>
          <a:p>
            <a:r>
              <a:rPr lang="en-US" sz="2800" b="1" u="sng" dirty="0"/>
              <a:t>Evaluation Metrics:</a:t>
            </a:r>
          </a:p>
          <a:p>
            <a:endParaRPr lang="en-US" b="1" dirty="0"/>
          </a:p>
          <a:p>
            <a:r>
              <a:rPr lang="en-US" b="1" dirty="0"/>
              <a:t>Root Mean Squared Error: </a:t>
            </a:r>
            <a:r>
              <a:rPr lang="en-US" dirty="0"/>
              <a:t>2.27279</a:t>
            </a:r>
          </a:p>
          <a:p>
            <a:r>
              <a:rPr lang="en-US" b="1" dirty="0"/>
              <a:t>R</a:t>
            </a:r>
            <a:r>
              <a:rPr lang="en-US" b="1" baseline="30000" dirty="0"/>
              <a:t>2</a:t>
            </a:r>
            <a:r>
              <a:rPr lang="en-US" b="1" dirty="0"/>
              <a:t> : </a:t>
            </a:r>
            <a:r>
              <a:rPr lang="en-US" dirty="0"/>
              <a:t>0.14618214105257188</a:t>
            </a:r>
          </a:p>
          <a:p>
            <a:r>
              <a:rPr lang="en-US" b="1" dirty="0"/>
              <a:t>MAE: </a:t>
            </a:r>
            <a:r>
              <a:rPr lang="en-US" dirty="0"/>
              <a:t>1.6772725368820074</a:t>
            </a:r>
            <a:endParaRPr lang="en-US" b="1" dirty="0"/>
          </a:p>
        </p:txBody>
      </p:sp>
      <p:sp>
        <p:nvSpPr>
          <p:cNvPr id="6" name="Slide Number Placeholder 5">
            <a:extLst>
              <a:ext uri="{FF2B5EF4-FFF2-40B4-BE49-F238E27FC236}">
                <a16:creationId xmlns:a16="http://schemas.microsoft.com/office/drawing/2014/main" id="{AB9F16BA-B9F7-60BD-446F-0E4FB2F468E1}"/>
              </a:ext>
            </a:extLst>
          </p:cNvPr>
          <p:cNvSpPr>
            <a:spLocks noGrp="1"/>
          </p:cNvSpPr>
          <p:nvPr>
            <p:ph type="sldNum" sz="quarter" idx="12"/>
          </p:nvPr>
        </p:nvSpPr>
        <p:spPr/>
        <p:txBody>
          <a:bodyPr/>
          <a:lstStyle/>
          <a:p>
            <a:fld id="{CC057153-B650-4DEB-B370-79DDCFDCE934}" type="slidenum">
              <a:rPr lang="en-US" smtClean="0"/>
              <a:t>9</a:t>
            </a:fld>
            <a:endParaRPr lang="en-US"/>
          </a:p>
        </p:txBody>
      </p:sp>
      <p:pic>
        <p:nvPicPr>
          <p:cNvPr id="6152" name="Picture 8">
            <a:extLst>
              <a:ext uri="{FF2B5EF4-FFF2-40B4-BE49-F238E27FC236}">
                <a16:creationId xmlns:a16="http://schemas.microsoft.com/office/drawing/2014/main" id="{6644C118-946A-3075-CFC0-6AEC97F7EB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9652" y="1099185"/>
            <a:ext cx="5219700" cy="521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066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34" name="Rectangle 5133">
            <a:extLst>
              <a:ext uri="{FF2B5EF4-FFF2-40B4-BE49-F238E27FC236}">
                <a16:creationId xmlns:a16="http://schemas.microsoft.com/office/drawing/2014/main" id="{80617B06-44B8-4627-86D2-CB786FC07A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D3F2BB-6DF7-9EDC-C8CA-1D296BAC9226}"/>
              </a:ext>
            </a:extLst>
          </p:cNvPr>
          <p:cNvSpPr>
            <a:spLocks noGrp="1"/>
          </p:cNvSpPr>
          <p:nvPr>
            <p:ph type="title"/>
          </p:nvPr>
        </p:nvSpPr>
        <p:spPr>
          <a:xfrm>
            <a:off x="5996108" y="603504"/>
            <a:ext cx="5497561" cy="1522391"/>
          </a:xfrm>
        </p:spPr>
        <p:txBody>
          <a:bodyPr anchor="b">
            <a:normAutofit/>
          </a:bodyPr>
          <a:lstStyle/>
          <a:p>
            <a:r>
              <a:rPr lang="en-US" dirty="0" err="1"/>
              <a:t>XGBoost</a:t>
            </a:r>
            <a:r>
              <a:rPr lang="en-US" dirty="0"/>
              <a:t>: Classification Model</a:t>
            </a:r>
          </a:p>
        </p:txBody>
      </p:sp>
      <p:sp>
        <p:nvSpPr>
          <p:cNvPr id="3" name="Content Placeholder 2">
            <a:extLst>
              <a:ext uri="{FF2B5EF4-FFF2-40B4-BE49-F238E27FC236}">
                <a16:creationId xmlns:a16="http://schemas.microsoft.com/office/drawing/2014/main" id="{FC1578FE-9711-DDF9-1423-DDA4B0EE03FA}"/>
              </a:ext>
            </a:extLst>
          </p:cNvPr>
          <p:cNvSpPr>
            <a:spLocks noGrp="1"/>
          </p:cNvSpPr>
          <p:nvPr>
            <p:ph idx="1"/>
          </p:nvPr>
        </p:nvSpPr>
        <p:spPr>
          <a:xfrm>
            <a:off x="5996108" y="2212848"/>
            <a:ext cx="5497561" cy="4096512"/>
          </a:xfrm>
        </p:spPr>
        <p:txBody>
          <a:bodyPr>
            <a:normAutofit/>
          </a:bodyPr>
          <a:lstStyle/>
          <a:p>
            <a:r>
              <a:rPr lang="en-US" sz="1800" dirty="0"/>
              <a:t>A baseline model was built to predict “high-quality” coffee versus “low-quality”.</a:t>
            </a:r>
          </a:p>
          <a:p>
            <a:r>
              <a:rPr lang="en-US" sz="1800" dirty="0"/>
              <a:t>Since only about 8% of samples were high quality, class weighting was used to account for class imbalance and improve the detection of those rarer cases.</a:t>
            </a:r>
          </a:p>
        </p:txBody>
      </p:sp>
      <p:sp>
        <p:nvSpPr>
          <p:cNvPr id="4" name="TextBox 3">
            <a:extLst>
              <a:ext uri="{FF2B5EF4-FFF2-40B4-BE49-F238E27FC236}">
                <a16:creationId xmlns:a16="http://schemas.microsoft.com/office/drawing/2014/main" id="{4E74328F-2E2B-C60E-1924-2C6FB954D76B}"/>
              </a:ext>
            </a:extLst>
          </p:cNvPr>
          <p:cNvSpPr txBox="1"/>
          <p:nvPr/>
        </p:nvSpPr>
        <p:spPr>
          <a:xfrm>
            <a:off x="5996108" y="4497049"/>
            <a:ext cx="3432705" cy="1477328"/>
          </a:xfrm>
          <a:prstGeom prst="rect">
            <a:avLst/>
          </a:prstGeom>
          <a:noFill/>
        </p:spPr>
        <p:txBody>
          <a:bodyPr wrap="square" rtlCol="0">
            <a:spAutoFit/>
          </a:bodyPr>
          <a:lstStyle/>
          <a:p>
            <a:r>
              <a:rPr lang="en-US" b="1" dirty="0"/>
              <a:t>Evaluation Metrics:</a:t>
            </a:r>
          </a:p>
          <a:p>
            <a:r>
              <a:rPr lang="en-US" b="1" dirty="0"/>
              <a:t>Accuracy: </a:t>
            </a:r>
            <a:r>
              <a:rPr lang="en-US" dirty="0"/>
              <a:t>0.85496</a:t>
            </a:r>
            <a:endParaRPr lang="en-US" b="1" dirty="0"/>
          </a:p>
          <a:p>
            <a:r>
              <a:rPr lang="en-US" b="1" dirty="0"/>
              <a:t>Precision: </a:t>
            </a:r>
            <a:r>
              <a:rPr lang="en-US" dirty="0"/>
              <a:t>0.23</a:t>
            </a:r>
          </a:p>
          <a:p>
            <a:r>
              <a:rPr lang="en-US" b="1" dirty="0"/>
              <a:t>Recall: </a:t>
            </a:r>
            <a:r>
              <a:rPr lang="en-US" dirty="0"/>
              <a:t>0.33</a:t>
            </a:r>
          </a:p>
          <a:p>
            <a:r>
              <a:rPr lang="en-US" b="1" dirty="0"/>
              <a:t>F1 Score: </a:t>
            </a:r>
            <a:r>
              <a:rPr lang="en-US" dirty="0"/>
              <a:t>0.27</a:t>
            </a:r>
            <a:endParaRPr lang="en-US" b="1" dirty="0"/>
          </a:p>
        </p:txBody>
      </p:sp>
      <p:sp>
        <p:nvSpPr>
          <p:cNvPr id="6" name="Slide Number Placeholder 5">
            <a:extLst>
              <a:ext uri="{FF2B5EF4-FFF2-40B4-BE49-F238E27FC236}">
                <a16:creationId xmlns:a16="http://schemas.microsoft.com/office/drawing/2014/main" id="{D79662DC-0B3F-7245-00A4-7A2F7904EF79}"/>
              </a:ext>
            </a:extLst>
          </p:cNvPr>
          <p:cNvSpPr>
            <a:spLocks noGrp="1"/>
          </p:cNvSpPr>
          <p:nvPr>
            <p:ph type="sldNum" sz="quarter" idx="12"/>
          </p:nvPr>
        </p:nvSpPr>
        <p:spPr/>
        <p:txBody>
          <a:bodyPr/>
          <a:lstStyle/>
          <a:p>
            <a:fld id="{CC057153-B650-4DEB-B370-79DDCFDCE934}" type="slidenum">
              <a:rPr lang="en-US" smtClean="0"/>
              <a:t>10</a:t>
            </a:fld>
            <a:endParaRPr lang="en-US"/>
          </a:p>
        </p:txBody>
      </p:sp>
      <p:pic>
        <p:nvPicPr>
          <p:cNvPr id="5132" name="Picture 12">
            <a:extLst>
              <a:ext uri="{FF2B5EF4-FFF2-40B4-BE49-F238E27FC236}">
                <a16:creationId xmlns:a16="http://schemas.microsoft.com/office/drawing/2014/main" id="{336E0662-7CA1-0BFD-ED8C-4D3BCEED03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35" y="3436808"/>
            <a:ext cx="5734846" cy="34211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4">
            <a:extLst>
              <a:ext uri="{FF2B5EF4-FFF2-40B4-BE49-F238E27FC236}">
                <a16:creationId xmlns:a16="http://schemas.microsoft.com/office/drawing/2014/main" id="{7FA903F7-2260-19C4-15FA-E6790466FB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5" y="1"/>
            <a:ext cx="3936129" cy="3484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8546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0027-5192-7727-EA61-208B01C40961}"/>
              </a:ext>
            </a:extLst>
          </p:cNvPr>
          <p:cNvSpPr>
            <a:spLocks noGrp="1"/>
          </p:cNvSpPr>
          <p:nvPr>
            <p:ph type="title"/>
          </p:nvPr>
        </p:nvSpPr>
        <p:spPr/>
        <p:txBody>
          <a:bodyPr/>
          <a:lstStyle/>
          <a:p>
            <a:r>
              <a:rPr lang="en-US" dirty="0"/>
              <a:t>Hyperparameter Tuning For </a:t>
            </a:r>
            <a:r>
              <a:rPr lang="en-US" dirty="0" err="1"/>
              <a:t>XGBoost</a:t>
            </a:r>
            <a:r>
              <a:rPr lang="en-US" dirty="0"/>
              <a:t> Classifier</a:t>
            </a:r>
          </a:p>
        </p:txBody>
      </p:sp>
      <p:pic>
        <p:nvPicPr>
          <p:cNvPr id="4098" name="Picture 2">
            <a:extLst>
              <a:ext uri="{FF2B5EF4-FFF2-40B4-BE49-F238E27FC236}">
                <a16:creationId xmlns:a16="http://schemas.microsoft.com/office/drawing/2014/main" id="{901954EA-5A26-777F-DAC7-06B07BA520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960313"/>
            <a:ext cx="4229100" cy="37433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16376E56-170D-ACBC-700B-9B05B37B6C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0011" y="2960314"/>
            <a:ext cx="4229100" cy="3743325"/>
          </a:xfrm>
          <a:prstGeom prst="rect">
            <a:avLst/>
          </a:prstGeom>
          <a:noFill/>
          <a:extLst>
            <a:ext uri="{909E8E84-426E-40DD-AFC4-6F175D3DCCD1}">
              <a14:hiddenFill xmlns:a14="http://schemas.microsoft.com/office/drawing/2010/main">
                <a:solidFill>
                  <a:srgbClr val="FFFFFF"/>
                </a:solidFill>
              </a14:hiddenFill>
            </a:ext>
          </a:extLst>
        </p:spPr>
      </p:pic>
      <p:sp>
        <p:nvSpPr>
          <p:cNvPr id="9" name="Slide Number Placeholder 8">
            <a:extLst>
              <a:ext uri="{FF2B5EF4-FFF2-40B4-BE49-F238E27FC236}">
                <a16:creationId xmlns:a16="http://schemas.microsoft.com/office/drawing/2014/main" id="{D4101064-6EE2-2168-C834-90302BEE299B}"/>
              </a:ext>
            </a:extLst>
          </p:cNvPr>
          <p:cNvSpPr>
            <a:spLocks noGrp="1"/>
          </p:cNvSpPr>
          <p:nvPr>
            <p:ph type="sldNum" sz="quarter" idx="12"/>
          </p:nvPr>
        </p:nvSpPr>
        <p:spPr/>
        <p:txBody>
          <a:bodyPr/>
          <a:lstStyle/>
          <a:p>
            <a:fld id="{CC057153-B650-4DEB-B370-79DDCFDCE934}" type="slidenum">
              <a:rPr lang="en-US" smtClean="0"/>
              <a:t>11</a:t>
            </a:fld>
            <a:endParaRPr lang="en-US"/>
          </a:p>
        </p:txBody>
      </p:sp>
      <p:graphicFrame>
        <p:nvGraphicFramePr>
          <p:cNvPr id="10" name="Table 9">
            <a:extLst>
              <a:ext uri="{FF2B5EF4-FFF2-40B4-BE49-F238E27FC236}">
                <a16:creationId xmlns:a16="http://schemas.microsoft.com/office/drawing/2014/main" id="{F0DF85BF-B0B6-AB2B-B2AB-1CF86AF61638}"/>
              </a:ext>
            </a:extLst>
          </p:cNvPr>
          <p:cNvGraphicFramePr>
            <a:graphicFrameLocks noGrp="1"/>
          </p:cNvGraphicFramePr>
          <p:nvPr>
            <p:extLst>
              <p:ext uri="{D42A27DB-BD31-4B8C-83A1-F6EECF244321}">
                <p14:modId xmlns:p14="http://schemas.microsoft.com/office/powerpoint/2010/main" val="3574171649"/>
              </p:ext>
            </p:extLst>
          </p:nvPr>
        </p:nvGraphicFramePr>
        <p:xfrm>
          <a:off x="5021580" y="1494688"/>
          <a:ext cx="5350607" cy="849796"/>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895698047"/>
                    </a:ext>
                  </a:extLst>
                </a:gridCol>
                <a:gridCol w="1079807">
                  <a:extLst>
                    <a:ext uri="{9D8B030D-6E8A-4147-A177-3AD203B41FA5}">
                      <a16:colId xmlns:a16="http://schemas.microsoft.com/office/drawing/2014/main" val="900287044"/>
                    </a:ext>
                  </a:extLst>
                </a:gridCol>
                <a:gridCol w="1220400">
                  <a:extLst>
                    <a:ext uri="{9D8B030D-6E8A-4147-A177-3AD203B41FA5}">
                      <a16:colId xmlns:a16="http://schemas.microsoft.com/office/drawing/2014/main" val="3930790566"/>
                    </a:ext>
                  </a:extLst>
                </a:gridCol>
                <a:gridCol w="1220400">
                  <a:extLst>
                    <a:ext uri="{9D8B030D-6E8A-4147-A177-3AD203B41FA5}">
                      <a16:colId xmlns:a16="http://schemas.microsoft.com/office/drawing/2014/main" val="571947905"/>
                    </a:ext>
                  </a:extLst>
                </a:gridCol>
                <a:gridCol w="1220400">
                  <a:extLst>
                    <a:ext uri="{9D8B030D-6E8A-4147-A177-3AD203B41FA5}">
                      <a16:colId xmlns:a16="http://schemas.microsoft.com/office/drawing/2014/main" val="1472981392"/>
                    </a:ext>
                  </a:extLst>
                </a:gridCol>
              </a:tblGrid>
              <a:tr h="275286">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600" b="1" u="none" strike="noStrike" dirty="0">
                          <a:effectLst/>
                        </a:rPr>
                        <a:t>Accuracy</a:t>
                      </a:r>
                      <a:endParaRPr lang="en-US" sz="16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600" b="1" u="none" strike="noStrike">
                          <a:effectLst/>
                        </a:rPr>
                        <a:t>Precision</a:t>
                      </a:r>
                      <a:endParaRPr lang="en-US" sz="1600" b="1"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600" b="1" u="none" strike="noStrike">
                          <a:effectLst/>
                        </a:rPr>
                        <a:t>Recall</a:t>
                      </a:r>
                      <a:endParaRPr lang="en-US" sz="1600" b="1"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US" sz="1600" b="1" u="none" strike="noStrike" dirty="0">
                          <a:effectLst/>
                        </a:rPr>
                        <a:t>F1-Score</a:t>
                      </a:r>
                      <a:endParaRPr lang="en-US" sz="1600" b="1"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958298799"/>
                  </a:ext>
                </a:extLst>
              </a:tr>
              <a:tr h="287255">
                <a:tc>
                  <a:txBody>
                    <a:bodyPr/>
                    <a:lstStyle/>
                    <a:p>
                      <a:pPr algn="l" fontAlgn="b">
                        <a:buNone/>
                      </a:pPr>
                      <a:r>
                        <a:rPr lang="en-US" sz="1400" b="1" u="none" strike="noStrike" dirty="0">
                          <a:effectLst/>
                        </a:rPr>
                        <a:t>Base</a:t>
                      </a:r>
                      <a:endParaRPr lang="en-US" sz="14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600" u="none" strike="noStrike" dirty="0">
                          <a:effectLst/>
                        </a:rPr>
                        <a:t>0.844962</a:t>
                      </a:r>
                      <a:endParaRPr lang="en-US"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600" u="none" strike="noStrike" dirty="0">
                          <a:effectLst/>
                        </a:rPr>
                        <a:t>0.22806</a:t>
                      </a:r>
                      <a:endParaRPr lang="en-US"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600" u="none" strike="noStrike" dirty="0">
                          <a:effectLst/>
                        </a:rPr>
                        <a:t>0.33333</a:t>
                      </a:r>
                      <a:endParaRPr lang="en-US"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600" u="none" strike="noStrike" dirty="0">
                          <a:effectLst/>
                        </a:rPr>
                        <a:t>0.269231</a:t>
                      </a:r>
                      <a:endParaRPr lang="en-US" sz="16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660985474"/>
                  </a:ext>
                </a:extLst>
              </a:tr>
              <a:tr h="287255">
                <a:tc>
                  <a:txBody>
                    <a:bodyPr/>
                    <a:lstStyle/>
                    <a:p>
                      <a:pPr algn="l" fontAlgn="b">
                        <a:buNone/>
                      </a:pPr>
                      <a:r>
                        <a:rPr lang="en-US" sz="1400" b="1" u="none" strike="noStrike" dirty="0">
                          <a:effectLst/>
                        </a:rPr>
                        <a:t>Tuned</a:t>
                      </a:r>
                      <a:endParaRPr lang="en-US" sz="14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600" u="none" strike="noStrike" dirty="0">
                          <a:effectLst/>
                        </a:rPr>
                        <a:t>0.881679</a:t>
                      </a:r>
                      <a:endParaRPr lang="en-US"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600" u="none" strike="noStrike" dirty="0">
                          <a:effectLst/>
                        </a:rPr>
                        <a:t>0.33333</a:t>
                      </a:r>
                      <a:endParaRPr lang="en-US"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600" u="none" strike="noStrike" dirty="0">
                          <a:effectLst/>
                        </a:rPr>
                        <a:t>0.47619</a:t>
                      </a:r>
                      <a:endParaRPr lang="en-US"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600" u="none" strike="noStrike" dirty="0">
                          <a:effectLst/>
                        </a:rPr>
                        <a:t>0.392157</a:t>
                      </a:r>
                      <a:endParaRPr lang="en-US" sz="16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418337861"/>
                  </a:ext>
                </a:extLst>
              </a:tr>
            </a:tbl>
          </a:graphicData>
        </a:graphic>
      </p:graphicFrame>
      <p:sp>
        <p:nvSpPr>
          <p:cNvPr id="11" name="TextBox 10">
            <a:extLst>
              <a:ext uri="{FF2B5EF4-FFF2-40B4-BE49-F238E27FC236}">
                <a16:creationId xmlns:a16="http://schemas.microsoft.com/office/drawing/2014/main" id="{9BCA1C69-3222-6467-BA29-DC06D8B4A95C}"/>
              </a:ext>
            </a:extLst>
          </p:cNvPr>
          <p:cNvSpPr txBox="1"/>
          <p:nvPr/>
        </p:nvSpPr>
        <p:spPr>
          <a:xfrm>
            <a:off x="410547" y="1680898"/>
            <a:ext cx="4889241" cy="646331"/>
          </a:xfrm>
          <a:prstGeom prst="rect">
            <a:avLst/>
          </a:prstGeom>
          <a:noFill/>
        </p:spPr>
        <p:txBody>
          <a:bodyPr wrap="square" rtlCol="0">
            <a:spAutoFit/>
          </a:bodyPr>
          <a:lstStyle/>
          <a:p>
            <a:r>
              <a:rPr lang="en-US" b="1" dirty="0"/>
              <a:t>Tuned parameters: </a:t>
            </a:r>
            <a:r>
              <a:rPr lang="en-US" dirty="0" err="1"/>
              <a:t>n_estimators</a:t>
            </a:r>
            <a:r>
              <a:rPr lang="en-US" dirty="0"/>
              <a:t>,, </a:t>
            </a:r>
            <a:r>
              <a:rPr lang="en-US" dirty="0" err="1"/>
              <a:t>max_depth</a:t>
            </a:r>
            <a:r>
              <a:rPr lang="en-US" dirty="0"/>
              <a:t>, </a:t>
            </a:r>
            <a:r>
              <a:rPr lang="en-US" dirty="0" err="1"/>
              <a:t>learning_rate</a:t>
            </a:r>
            <a:endParaRPr lang="en-US" b="1" dirty="0"/>
          </a:p>
        </p:txBody>
      </p:sp>
    </p:spTree>
    <p:extLst>
      <p:ext uri="{BB962C8B-B14F-4D97-AF65-F5344CB8AC3E}">
        <p14:creationId xmlns:p14="http://schemas.microsoft.com/office/powerpoint/2010/main" val="1108891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1E0DC6F-DB0E-DBE1-8178-AE81BC6B96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Vibrant green forest">
            <a:extLst>
              <a:ext uri="{FF2B5EF4-FFF2-40B4-BE49-F238E27FC236}">
                <a16:creationId xmlns:a16="http://schemas.microsoft.com/office/drawing/2014/main" id="{A1278072-8390-7A1E-D7E8-004D70F34CAD}"/>
              </a:ext>
            </a:extLst>
          </p:cNvPr>
          <p:cNvPicPr>
            <a:picLocks noChangeAspect="1"/>
          </p:cNvPicPr>
          <p:nvPr/>
        </p:nvPicPr>
        <p:blipFill>
          <a:blip r:embed="rId3"/>
          <a:srcRect t="8782" b="6948"/>
          <a:stretch>
            <a:fillRect/>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84D07BF5-D29E-918E-55FE-747AF2A0E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66726" cy="685800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17E426-D36A-A02B-329D-107B368DC3F7}"/>
              </a:ext>
            </a:extLst>
          </p:cNvPr>
          <p:cNvSpPr>
            <a:spLocks noGrp="1"/>
          </p:cNvSpPr>
          <p:nvPr>
            <p:ph type="ctrTitle"/>
          </p:nvPr>
        </p:nvSpPr>
        <p:spPr>
          <a:xfrm>
            <a:off x="441035" y="1424475"/>
            <a:ext cx="3424383" cy="2543448"/>
          </a:xfrm>
        </p:spPr>
        <p:txBody>
          <a:bodyPr anchor="t">
            <a:normAutofit/>
          </a:bodyPr>
          <a:lstStyle/>
          <a:p>
            <a:pPr algn="l"/>
            <a:r>
              <a:rPr lang="en-US" sz="3200" dirty="0"/>
              <a:t>Random Forests: Regression and Classification</a:t>
            </a:r>
          </a:p>
        </p:txBody>
      </p:sp>
      <p:sp>
        <p:nvSpPr>
          <p:cNvPr id="4" name="Slide Number Placeholder 3">
            <a:extLst>
              <a:ext uri="{FF2B5EF4-FFF2-40B4-BE49-F238E27FC236}">
                <a16:creationId xmlns:a16="http://schemas.microsoft.com/office/drawing/2014/main" id="{26B6ADD8-C735-751C-E93E-4B5AC744C114}"/>
              </a:ext>
            </a:extLst>
          </p:cNvPr>
          <p:cNvSpPr>
            <a:spLocks noGrp="1"/>
          </p:cNvSpPr>
          <p:nvPr>
            <p:ph type="sldNum" sz="quarter" idx="12"/>
          </p:nvPr>
        </p:nvSpPr>
        <p:spPr>
          <a:xfrm>
            <a:off x="11632162" y="6453002"/>
            <a:ext cx="429207" cy="365125"/>
          </a:xfrm>
        </p:spPr>
        <p:txBody>
          <a:bodyPr>
            <a:normAutofit/>
          </a:bodyPr>
          <a:lstStyle/>
          <a:p>
            <a:pPr>
              <a:spcAft>
                <a:spcPts val="600"/>
              </a:spcAft>
            </a:pPr>
            <a:fld id="{CC057153-B650-4DEB-B370-79DDCFDCE934}" type="slidenum">
              <a:rPr lang="en-US">
                <a:solidFill>
                  <a:srgbClr val="FFFFFF"/>
                </a:solidFill>
              </a:rPr>
              <a:pPr>
                <a:spcAft>
                  <a:spcPts val="600"/>
                </a:spcAft>
              </a:pPr>
              <a:t>12</a:t>
            </a:fld>
            <a:endParaRPr lang="en-US">
              <a:solidFill>
                <a:srgbClr val="FFFFFF"/>
              </a:solidFill>
            </a:endParaRPr>
          </a:p>
        </p:txBody>
      </p:sp>
    </p:spTree>
    <p:extLst>
      <p:ext uri="{BB962C8B-B14F-4D97-AF65-F5344CB8AC3E}">
        <p14:creationId xmlns:p14="http://schemas.microsoft.com/office/powerpoint/2010/main" val="3029744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BD510-14AA-4EEC-03C1-D9D5E8CEE857}"/>
              </a:ext>
            </a:extLst>
          </p:cNvPr>
          <p:cNvSpPr>
            <a:spLocks noGrp="1"/>
          </p:cNvSpPr>
          <p:nvPr>
            <p:ph type="title"/>
          </p:nvPr>
        </p:nvSpPr>
        <p:spPr/>
        <p:txBody>
          <a:bodyPr/>
          <a:lstStyle/>
          <a:p>
            <a:r>
              <a:rPr lang="en-US" dirty="0"/>
              <a:t>Random Forest: Regression Model</a:t>
            </a:r>
          </a:p>
        </p:txBody>
      </p:sp>
      <p:sp>
        <p:nvSpPr>
          <p:cNvPr id="5" name="Slide Number Placeholder 4">
            <a:extLst>
              <a:ext uri="{FF2B5EF4-FFF2-40B4-BE49-F238E27FC236}">
                <a16:creationId xmlns:a16="http://schemas.microsoft.com/office/drawing/2014/main" id="{F903820F-4D7C-6F58-7F60-CF95191226C8}"/>
              </a:ext>
            </a:extLst>
          </p:cNvPr>
          <p:cNvSpPr>
            <a:spLocks noGrp="1"/>
          </p:cNvSpPr>
          <p:nvPr>
            <p:ph type="sldNum" sz="quarter" idx="12"/>
          </p:nvPr>
        </p:nvSpPr>
        <p:spPr/>
        <p:txBody>
          <a:bodyPr/>
          <a:lstStyle/>
          <a:p>
            <a:fld id="{CC057153-B650-4DEB-B370-79DDCFDCE934}" type="slidenum">
              <a:rPr lang="en-US" smtClean="0"/>
              <a:t>13</a:t>
            </a:fld>
            <a:endParaRPr lang="en-US"/>
          </a:p>
        </p:txBody>
      </p:sp>
      <p:sp>
        <p:nvSpPr>
          <p:cNvPr id="6" name="TextBox 5">
            <a:extLst>
              <a:ext uri="{FF2B5EF4-FFF2-40B4-BE49-F238E27FC236}">
                <a16:creationId xmlns:a16="http://schemas.microsoft.com/office/drawing/2014/main" id="{DCDC3652-561A-F571-2CC3-E06D70743D12}"/>
              </a:ext>
            </a:extLst>
          </p:cNvPr>
          <p:cNvSpPr txBox="1"/>
          <p:nvPr/>
        </p:nvSpPr>
        <p:spPr>
          <a:xfrm>
            <a:off x="442363" y="1206710"/>
            <a:ext cx="4009715" cy="1631216"/>
          </a:xfrm>
          <a:prstGeom prst="rect">
            <a:avLst/>
          </a:prstGeom>
          <a:noFill/>
        </p:spPr>
        <p:txBody>
          <a:bodyPr wrap="square" rtlCol="0">
            <a:spAutoFit/>
          </a:bodyPr>
          <a:lstStyle/>
          <a:p>
            <a:r>
              <a:rPr lang="en-US" sz="2800" b="1" u="sng" dirty="0"/>
              <a:t>Evaluation Metrics:</a:t>
            </a:r>
          </a:p>
          <a:p>
            <a:endParaRPr lang="en-US" b="1" dirty="0"/>
          </a:p>
          <a:p>
            <a:r>
              <a:rPr lang="en-US" b="1" dirty="0"/>
              <a:t>Root Mean Squared Error: </a:t>
            </a:r>
            <a:r>
              <a:rPr lang="en-US" dirty="0"/>
              <a:t>2.2825</a:t>
            </a:r>
          </a:p>
          <a:p>
            <a:r>
              <a:rPr lang="en-US" b="1" dirty="0"/>
              <a:t>R</a:t>
            </a:r>
            <a:r>
              <a:rPr lang="en-US" b="1" baseline="30000" dirty="0"/>
              <a:t>2</a:t>
            </a:r>
            <a:r>
              <a:rPr lang="en-US" b="1" dirty="0"/>
              <a:t> : </a:t>
            </a:r>
            <a:r>
              <a:rPr lang="en-US" dirty="0"/>
              <a:t>0.26442999262152056</a:t>
            </a:r>
          </a:p>
          <a:p>
            <a:r>
              <a:rPr lang="en-US" b="1" dirty="0"/>
              <a:t>MAE: </a:t>
            </a:r>
            <a:r>
              <a:rPr lang="en-US" dirty="0"/>
              <a:t>1.602423719859442</a:t>
            </a:r>
            <a:endParaRPr lang="en-US" b="1" dirty="0"/>
          </a:p>
        </p:txBody>
      </p:sp>
      <p:pic>
        <p:nvPicPr>
          <p:cNvPr id="7172" name="Picture 4">
            <a:extLst>
              <a:ext uri="{FF2B5EF4-FFF2-40B4-BE49-F238E27FC236}">
                <a16:creationId xmlns:a16="http://schemas.microsoft.com/office/drawing/2014/main" id="{BA067A13-8E70-9BD4-7064-61534DA645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905" y="2872328"/>
            <a:ext cx="6002180" cy="3580673"/>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61E31543-F413-0E44-93F2-D38EC98985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2462" y="1326984"/>
            <a:ext cx="5219700" cy="521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642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25" name="Rectangle 9224">
            <a:extLst>
              <a:ext uri="{FF2B5EF4-FFF2-40B4-BE49-F238E27FC236}">
                <a16:creationId xmlns:a16="http://schemas.microsoft.com/office/drawing/2014/main" id="{35A92A98-187D-1D81-86FD-8D40CC69B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0F49BE-B4AD-71E1-637C-B9B1A8587F41}"/>
              </a:ext>
            </a:extLst>
          </p:cNvPr>
          <p:cNvSpPr>
            <a:spLocks noGrp="1"/>
          </p:cNvSpPr>
          <p:nvPr>
            <p:ph type="title"/>
          </p:nvPr>
        </p:nvSpPr>
        <p:spPr>
          <a:xfrm>
            <a:off x="112097" y="222286"/>
            <a:ext cx="11294162" cy="1170252"/>
          </a:xfrm>
        </p:spPr>
        <p:txBody>
          <a:bodyPr vert="horz" lIns="91440" tIns="45720" rIns="91440" bIns="45720" rtlCol="0" anchor="b">
            <a:normAutofit/>
          </a:bodyPr>
          <a:lstStyle/>
          <a:p>
            <a:r>
              <a:rPr lang="en-US" sz="4000" dirty="0"/>
              <a:t>Random Forest: Classification Model</a:t>
            </a:r>
          </a:p>
        </p:txBody>
      </p:sp>
      <p:pic>
        <p:nvPicPr>
          <p:cNvPr id="9218" name="Picture 2">
            <a:extLst>
              <a:ext uri="{FF2B5EF4-FFF2-40B4-BE49-F238E27FC236}">
                <a16:creationId xmlns:a16="http://schemas.microsoft.com/office/drawing/2014/main" id="{4423FBA0-98E9-4F65-53A8-500F9B4EBB5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05683" y="1487373"/>
            <a:ext cx="5181846" cy="458663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42193A3-6448-0D24-C209-8082F32DA1D2}"/>
              </a:ext>
            </a:extLst>
          </p:cNvPr>
          <p:cNvSpPr>
            <a:spLocks noGrp="1"/>
          </p:cNvSpPr>
          <p:nvPr>
            <p:ph type="sldNum" sz="quarter" idx="12"/>
          </p:nvPr>
        </p:nvSpPr>
        <p:spPr>
          <a:xfrm>
            <a:off x="11632162" y="6453002"/>
            <a:ext cx="429207"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14</a:t>
            </a:fld>
            <a:endParaRPr lang="en-US"/>
          </a:p>
        </p:txBody>
      </p:sp>
      <p:pic>
        <p:nvPicPr>
          <p:cNvPr id="9222" name="Picture 6">
            <a:extLst>
              <a:ext uri="{FF2B5EF4-FFF2-40B4-BE49-F238E27FC236}">
                <a16:creationId xmlns:a16="http://schemas.microsoft.com/office/drawing/2014/main" id="{8CD8413E-5706-868D-4EE7-ABC0481F3E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7803" y="1487373"/>
            <a:ext cx="5574545" cy="332556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E0A2194-D14F-C854-AD13-3732A0C81838}"/>
              </a:ext>
            </a:extLst>
          </p:cNvPr>
          <p:cNvSpPr txBox="1"/>
          <p:nvPr/>
        </p:nvSpPr>
        <p:spPr>
          <a:xfrm>
            <a:off x="5487528" y="4958305"/>
            <a:ext cx="5755094" cy="1200329"/>
          </a:xfrm>
          <a:prstGeom prst="rect">
            <a:avLst/>
          </a:prstGeom>
          <a:noFill/>
        </p:spPr>
        <p:txBody>
          <a:bodyPr wrap="square" rtlCol="0">
            <a:spAutoFit/>
          </a:bodyPr>
          <a:lstStyle/>
          <a:p>
            <a:r>
              <a:rPr lang="en-US" b="1" dirty="0"/>
              <a:t>Evaluation Metrics:</a:t>
            </a:r>
          </a:p>
          <a:p>
            <a:r>
              <a:rPr lang="pt-BR" b="1" dirty="0" err="1"/>
              <a:t>Accuracy</a:t>
            </a:r>
            <a:r>
              <a:rPr lang="pt-BR" b="1" dirty="0"/>
              <a:t>: </a:t>
            </a:r>
            <a:r>
              <a:rPr lang="pt-BR" dirty="0"/>
              <a:t>0.92748</a:t>
            </a:r>
          </a:p>
          <a:p>
            <a:r>
              <a:rPr lang="pt-BR" b="1" dirty="0" err="1"/>
              <a:t>Precision</a:t>
            </a:r>
            <a:r>
              <a:rPr lang="pt-BR" b="1" dirty="0"/>
              <a:t>: </a:t>
            </a:r>
            <a:r>
              <a:rPr lang="pt-BR" dirty="0"/>
              <a:t>0.75</a:t>
            </a:r>
          </a:p>
          <a:p>
            <a:r>
              <a:rPr lang="pt-BR" b="1" dirty="0"/>
              <a:t>Recall: </a:t>
            </a:r>
            <a:r>
              <a:rPr lang="pt-BR" dirty="0"/>
              <a:t>0.14</a:t>
            </a:r>
            <a:endParaRPr lang="en-US" b="1" dirty="0"/>
          </a:p>
        </p:txBody>
      </p:sp>
    </p:spTree>
    <p:extLst>
      <p:ext uri="{BB962C8B-B14F-4D97-AF65-F5344CB8AC3E}">
        <p14:creationId xmlns:p14="http://schemas.microsoft.com/office/powerpoint/2010/main" val="3872113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CFC5F-460D-D977-1B43-D9445FD4F30D}"/>
              </a:ext>
            </a:extLst>
          </p:cNvPr>
          <p:cNvSpPr>
            <a:spLocks noGrp="1"/>
          </p:cNvSpPr>
          <p:nvPr>
            <p:ph type="title"/>
          </p:nvPr>
        </p:nvSpPr>
        <p:spPr>
          <a:xfrm>
            <a:off x="612648" y="548640"/>
            <a:ext cx="8546342" cy="1132258"/>
          </a:xfrm>
        </p:spPr>
        <p:txBody>
          <a:bodyPr>
            <a:normAutofit/>
          </a:bodyPr>
          <a:lstStyle/>
          <a:p>
            <a:r>
              <a:rPr lang="en-US" dirty="0"/>
              <a:t>Comparison of </a:t>
            </a:r>
            <a:r>
              <a:rPr lang="en-US" dirty="0" err="1"/>
              <a:t>XGBoost</a:t>
            </a:r>
            <a:r>
              <a:rPr lang="en-US" dirty="0"/>
              <a:t> and RF Regression Models</a:t>
            </a:r>
          </a:p>
        </p:txBody>
      </p:sp>
      <p:sp>
        <p:nvSpPr>
          <p:cNvPr id="4" name="Slide Number Placeholder 3">
            <a:extLst>
              <a:ext uri="{FF2B5EF4-FFF2-40B4-BE49-F238E27FC236}">
                <a16:creationId xmlns:a16="http://schemas.microsoft.com/office/drawing/2014/main" id="{10FE8C28-0BB6-F60C-6168-295490177CD4}"/>
              </a:ext>
            </a:extLst>
          </p:cNvPr>
          <p:cNvSpPr>
            <a:spLocks noGrp="1"/>
          </p:cNvSpPr>
          <p:nvPr>
            <p:ph type="sldNum" sz="quarter" idx="12"/>
          </p:nvPr>
        </p:nvSpPr>
        <p:spPr/>
        <p:txBody>
          <a:bodyPr/>
          <a:lstStyle/>
          <a:p>
            <a:fld id="{CC057153-B650-4DEB-B370-79DDCFDCE934}" type="slidenum">
              <a:rPr lang="en-US" smtClean="0"/>
              <a:t>15</a:t>
            </a:fld>
            <a:endParaRPr lang="en-US"/>
          </a:p>
        </p:txBody>
      </p:sp>
      <p:pic>
        <p:nvPicPr>
          <p:cNvPr id="5" name="Picture 6">
            <a:extLst>
              <a:ext uri="{FF2B5EF4-FFF2-40B4-BE49-F238E27FC236}">
                <a16:creationId xmlns:a16="http://schemas.microsoft.com/office/drawing/2014/main" id="{E4A7212B-A704-A839-1887-CAAEE44E2B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9654" y="2612406"/>
            <a:ext cx="4129097" cy="4121562"/>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a:extLst>
              <a:ext uri="{FF2B5EF4-FFF2-40B4-BE49-F238E27FC236}">
                <a16:creationId xmlns:a16="http://schemas.microsoft.com/office/drawing/2014/main" id="{C05F308C-7D19-5913-85D5-DBE05AD29D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8938" y="2612406"/>
            <a:ext cx="4213410" cy="420572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ECB42152-F9A3-2791-D9A6-E03F803324C5}"/>
              </a:ext>
            </a:extLst>
          </p:cNvPr>
          <p:cNvGraphicFramePr>
            <a:graphicFrameLocks noGrp="1"/>
          </p:cNvGraphicFramePr>
          <p:nvPr>
            <p:extLst>
              <p:ext uri="{D42A27DB-BD31-4B8C-83A1-F6EECF244321}">
                <p14:modId xmlns:p14="http://schemas.microsoft.com/office/powerpoint/2010/main" val="1994847826"/>
              </p:ext>
            </p:extLst>
          </p:nvPr>
        </p:nvGraphicFramePr>
        <p:xfrm>
          <a:off x="4799850" y="1680898"/>
          <a:ext cx="2592300" cy="861414"/>
        </p:xfrm>
        <a:graphic>
          <a:graphicData uri="http://schemas.openxmlformats.org/drawingml/2006/table">
            <a:tbl>
              <a:tblPr>
                <a:tableStyleId>{5C22544A-7EE6-4342-B048-85BDC9FD1C3A}</a:tableStyleId>
              </a:tblPr>
              <a:tblGrid>
                <a:gridCol w="874427">
                  <a:extLst>
                    <a:ext uri="{9D8B030D-6E8A-4147-A177-3AD203B41FA5}">
                      <a16:colId xmlns:a16="http://schemas.microsoft.com/office/drawing/2014/main" val="2540052578"/>
                    </a:ext>
                  </a:extLst>
                </a:gridCol>
                <a:gridCol w="891623">
                  <a:extLst>
                    <a:ext uri="{9D8B030D-6E8A-4147-A177-3AD203B41FA5}">
                      <a16:colId xmlns:a16="http://schemas.microsoft.com/office/drawing/2014/main" val="3274316614"/>
                    </a:ext>
                  </a:extLst>
                </a:gridCol>
                <a:gridCol w="826250">
                  <a:extLst>
                    <a:ext uri="{9D8B030D-6E8A-4147-A177-3AD203B41FA5}">
                      <a16:colId xmlns:a16="http://schemas.microsoft.com/office/drawing/2014/main" val="122822740"/>
                    </a:ext>
                  </a:extLst>
                </a:gridCol>
              </a:tblGrid>
              <a:tr h="287138">
                <a:tc>
                  <a:txBody>
                    <a:bodyPr/>
                    <a:lstStyle/>
                    <a:p>
                      <a:pPr algn="ctr" fontAlgn="b">
                        <a:buNone/>
                      </a:pPr>
                      <a:r>
                        <a:rPr lang="en-US" sz="1100" b="1" u="none" strike="noStrike" dirty="0">
                          <a:effectLst/>
                        </a:rPr>
                        <a:t>Model</a:t>
                      </a:r>
                      <a:endParaRPr lang="en-US" sz="1100" b="1" i="0" u="none" strike="noStrike" dirty="0">
                        <a:solidFill>
                          <a:srgbClr val="000000"/>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b">
                        <a:buNone/>
                      </a:pPr>
                      <a:r>
                        <a:rPr lang="en-US" sz="1100" b="1" u="none" strike="noStrike" dirty="0">
                          <a:effectLst/>
                        </a:rPr>
                        <a:t>RMSE</a:t>
                      </a:r>
                      <a:endParaRPr lang="en-US" sz="1100" b="1" i="0" u="none" strike="noStrike" dirty="0">
                        <a:solidFill>
                          <a:srgbClr val="000000"/>
                        </a:solidFill>
                        <a:effectLst/>
                        <a:latin typeface="Aptos Narrow" panose="020B0004020202020204" pitchFamily="34" charset="0"/>
                      </a:endParaRPr>
                    </a:p>
                  </a:txBody>
                  <a:tcPr marL="7620" marR="7620" marT="7620" marB="0" anchor="b">
                    <a:lnT w="12700" cap="flat" cmpd="sng" algn="ctr">
                      <a:solidFill>
                        <a:schemeClr val="tx1"/>
                      </a:solidFill>
                      <a:prstDash val="solid"/>
                      <a:round/>
                      <a:headEnd type="none" w="med" len="med"/>
                      <a:tailEnd type="none" w="med" len="med"/>
                    </a:lnT>
                  </a:tcPr>
                </a:tc>
                <a:tc>
                  <a:txBody>
                    <a:bodyPr/>
                    <a:lstStyle/>
                    <a:p>
                      <a:pPr algn="ctr" fontAlgn="b">
                        <a:buNone/>
                      </a:pPr>
                      <a:r>
                        <a:rPr lang="en-US" sz="1100" b="1" u="none" strike="noStrike" dirty="0">
                          <a:effectLst/>
                        </a:rPr>
                        <a:t>R^2</a:t>
                      </a:r>
                      <a:endParaRPr lang="en-US" sz="1100" b="1" i="0" u="none" strike="noStrike" dirty="0">
                        <a:solidFill>
                          <a:srgbClr val="000000"/>
                        </a:solidFill>
                        <a:effectLst/>
                        <a:latin typeface="Aptos Narrow" panose="020B0004020202020204" pitchFamily="34" charset="0"/>
                      </a:endParaRPr>
                    </a:p>
                  </a:txBody>
                  <a:tcPr marL="7620" marR="7620" marT="762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655428780"/>
                  </a:ext>
                </a:extLst>
              </a:tr>
              <a:tr h="287138">
                <a:tc>
                  <a:txBody>
                    <a:bodyPr/>
                    <a:lstStyle/>
                    <a:p>
                      <a:pPr algn="ctr" fontAlgn="b">
                        <a:buNone/>
                      </a:pPr>
                      <a:r>
                        <a:rPr lang="en-US" sz="1100" b="1" u="none" strike="noStrike" dirty="0" err="1">
                          <a:solidFill>
                            <a:schemeClr val="accent3">
                              <a:lumMod val="50000"/>
                            </a:schemeClr>
                          </a:solidFill>
                          <a:effectLst/>
                        </a:rPr>
                        <a:t>XGBoost</a:t>
                      </a:r>
                      <a:endParaRPr lang="en-US" sz="1100" b="1" i="0" u="none" strike="noStrike" dirty="0">
                        <a:solidFill>
                          <a:schemeClr val="accent3">
                            <a:lumMod val="50000"/>
                          </a:schemeClr>
                        </a:solidFill>
                        <a:effectLst/>
                        <a:latin typeface="Aptos Narrow" panose="020B0004020202020204" pitchFamily="34" charset="0"/>
                      </a:endParaRPr>
                    </a:p>
                  </a:txBody>
                  <a:tcPr marL="7620" marR="7620" marT="7620" marB="0" anchor="b">
                    <a:lnL w="12700" cap="flat" cmpd="sng" algn="ctr">
                      <a:solidFill>
                        <a:schemeClr val="tx1"/>
                      </a:solidFill>
                      <a:prstDash val="solid"/>
                      <a:round/>
                      <a:headEnd type="none" w="med" len="med"/>
                      <a:tailEnd type="none" w="med" len="med"/>
                    </a:lnL>
                  </a:tcPr>
                </a:tc>
                <a:tc>
                  <a:txBody>
                    <a:bodyPr/>
                    <a:lstStyle/>
                    <a:p>
                      <a:pPr algn="r" fontAlgn="b">
                        <a:buNone/>
                      </a:pPr>
                      <a:r>
                        <a:rPr lang="en-US" sz="1100" u="none" strike="noStrike" dirty="0">
                          <a:effectLst/>
                        </a:rPr>
                        <a:t>2.27279</a:t>
                      </a:r>
                      <a:endParaRPr lang="en-US" sz="11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r" fontAlgn="b">
                        <a:buNone/>
                      </a:pPr>
                      <a:r>
                        <a:rPr lang="en-US" sz="1100" u="none" strike="noStrike" dirty="0">
                          <a:effectLst/>
                        </a:rPr>
                        <a:t>0.14618</a:t>
                      </a:r>
                      <a:endParaRPr lang="en-US" sz="1100" b="0" i="0" u="none" strike="noStrike" dirty="0">
                        <a:solidFill>
                          <a:srgbClr val="000000"/>
                        </a:solidFill>
                        <a:effectLst/>
                        <a:latin typeface="Aptos Narrow" panose="020B0004020202020204" pitchFamily="34" charset="0"/>
                      </a:endParaRPr>
                    </a:p>
                  </a:txBody>
                  <a:tcPr marL="7620" marR="7620" marT="762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48085805"/>
                  </a:ext>
                </a:extLst>
              </a:tr>
              <a:tr h="287138">
                <a:tc>
                  <a:txBody>
                    <a:bodyPr/>
                    <a:lstStyle/>
                    <a:p>
                      <a:pPr algn="ctr" fontAlgn="b">
                        <a:buNone/>
                      </a:pPr>
                      <a:r>
                        <a:rPr lang="en-US" sz="1100" b="1" i="0" u="none" strike="noStrike" dirty="0">
                          <a:solidFill>
                            <a:schemeClr val="accent3">
                              <a:lumMod val="50000"/>
                            </a:schemeClr>
                          </a:solidFill>
                          <a:effectLst/>
                          <a:latin typeface="Aptos Narrow" panose="020B0004020202020204" pitchFamily="34" charset="0"/>
                        </a:rPr>
                        <a:t>RF</a:t>
                      </a:r>
                    </a:p>
                  </a:txBody>
                  <a:tcPr marL="7620" marR="7620" marT="762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fontAlgn="b">
                        <a:buNone/>
                      </a:pPr>
                      <a:r>
                        <a:rPr lang="en-US" sz="1100" u="none" strike="noStrike">
                          <a:effectLst/>
                        </a:rPr>
                        <a:t>2.2825</a:t>
                      </a:r>
                      <a:endParaRPr lang="en-US" sz="1100" b="0" i="0" u="none" strike="noStrike">
                        <a:solidFill>
                          <a:srgbClr val="000000"/>
                        </a:solidFill>
                        <a:effectLst/>
                        <a:latin typeface="Aptos Narrow" panose="020B0004020202020204" pitchFamily="34" charset="0"/>
                      </a:endParaRPr>
                    </a:p>
                  </a:txBody>
                  <a:tcPr marL="7620" marR="7620" marT="7620" marB="0" anchor="b">
                    <a:lnB w="12700" cap="flat" cmpd="sng" algn="ctr">
                      <a:solidFill>
                        <a:schemeClr val="tx1"/>
                      </a:solidFill>
                      <a:prstDash val="solid"/>
                      <a:round/>
                      <a:headEnd type="none" w="med" len="med"/>
                      <a:tailEnd type="none" w="med" len="med"/>
                    </a:lnB>
                  </a:tcPr>
                </a:tc>
                <a:tc>
                  <a:txBody>
                    <a:bodyPr/>
                    <a:lstStyle/>
                    <a:p>
                      <a:pPr algn="r" fontAlgn="b">
                        <a:buNone/>
                      </a:pPr>
                      <a:r>
                        <a:rPr lang="en-US" sz="1100" u="none" strike="noStrike" dirty="0">
                          <a:effectLst/>
                        </a:rPr>
                        <a:t>0.26443</a:t>
                      </a:r>
                      <a:endParaRPr lang="en-US" sz="1100" b="0" i="0" u="none" strike="noStrike" dirty="0">
                        <a:solidFill>
                          <a:srgbClr val="000000"/>
                        </a:solidFill>
                        <a:effectLst/>
                        <a:latin typeface="Aptos Narrow" panose="020B0004020202020204" pitchFamily="34" charset="0"/>
                      </a:endParaRPr>
                    </a:p>
                  </a:txBody>
                  <a:tcPr marL="7620" marR="7620" marT="7620"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8537575"/>
                  </a:ext>
                </a:extLst>
              </a:tr>
            </a:tbl>
          </a:graphicData>
        </a:graphic>
      </p:graphicFrame>
    </p:spTree>
    <p:extLst>
      <p:ext uri="{BB962C8B-B14F-4D97-AF65-F5344CB8AC3E}">
        <p14:creationId xmlns:p14="http://schemas.microsoft.com/office/powerpoint/2010/main" val="1142983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B763D-1C00-2635-50F0-111AEE5AF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1EA7D-86A8-1894-D1BD-66CF6AFAD490}"/>
              </a:ext>
            </a:extLst>
          </p:cNvPr>
          <p:cNvSpPr>
            <a:spLocks noGrp="1"/>
          </p:cNvSpPr>
          <p:nvPr>
            <p:ph type="title"/>
          </p:nvPr>
        </p:nvSpPr>
        <p:spPr/>
        <p:txBody>
          <a:bodyPr/>
          <a:lstStyle/>
          <a:p>
            <a:r>
              <a:rPr lang="en-US"/>
              <a:t>Comparison of XGBoost and RF Classification Models</a:t>
            </a:r>
            <a:endParaRPr lang="en-US" dirty="0"/>
          </a:p>
        </p:txBody>
      </p:sp>
      <p:sp>
        <p:nvSpPr>
          <p:cNvPr id="4" name="Slide Number Placeholder 3">
            <a:extLst>
              <a:ext uri="{FF2B5EF4-FFF2-40B4-BE49-F238E27FC236}">
                <a16:creationId xmlns:a16="http://schemas.microsoft.com/office/drawing/2014/main" id="{BEB8B35F-D35B-8F01-CA0B-B7E410B3AAD2}"/>
              </a:ext>
            </a:extLst>
          </p:cNvPr>
          <p:cNvSpPr>
            <a:spLocks noGrp="1"/>
          </p:cNvSpPr>
          <p:nvPr>
            <p:ph type="sldNum" sz="quarter" idx="12"/>
          </p:nvPr>
        </p:nvSpPr>
        <p:spPr/>
        <p:txBody>
          <a:bodyPr/>
          <a:lstStyle/>
          <a:p>
            <a:fld id="{CC057153-B650-4DEB-B370-79DDCFDCE934}" type="slidenum">
              <a:rPr lang="en-US" smtClean="0"/>
              <a:t>16</a:t>
            </a:fld>
            <a:endParaRPr lang="en-US"/>
          </a:p>
        </p:txBody>
      </p:sp>
      <p:pic>
        <p:nvPicPr>
          <p:cNvPr id="6" name="Picture 2">
            <a:extLst>
              <a:ext uri="{FF2B5EF4-FFF2-40B4-BE49-F238E27FC236}">
                <a16:creationId xmlns:a16="http://schemas.microsoft.com/office/drawing/2014/main" id="{96D41E36-B678-B283-D0FD-F4CEBDC711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930" y="3074802"/>
            <a:ext cx="4229100" cy="37433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8AEDDC79-9AF0-B082-6458-ED4185F87104}"/>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096000" y="2702842"/>
            <a:ext cx="4649329" cy="411528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2FCF631-22EA-FCB4-F56A-011D3BB6BDD4}"/>
              </a:ext>
            </a:extLst>
          </p:cNvPr>
          <p:cNvSpPr txBox="1"/>
          <p:nvPr/>
        </p:nvSpPr>
        <p:spPr>
          <a:xfrm>
            <a:off x="337930" y="1680898"/>
            <a:ext cx="4649329" cy="1200329"/>
          </a:xfrm>
          <a:prstGeom prst="rect">
            <a:avLst/>
          </a:prstGeom>
          <a:noFill/>
        </p:spPr>
        <p:txBody>
          <a:bodyPr wrap="square" rtlCol="0">
            <a:spAutoFit/>
          </a:bodyPr>
          <a:lstStyle/>
          <a:p>
            <a:r>
              <a:rPr lang="en-US" dirty="0"/>
              <a:t>Accuracy: 0.881679</a:t>
            </a:r>
          </a:p>
          <a:p>
            <a:r>
              <a:rPr lang="en-US" dirty="0"/>
              <a:t>Precision: 0.33</a:t>
            </a:r>
          </a:p>
          <a:p>
            <a:r>
              <a:rPr lang="en-US" dirty="0"/>
              <a:t>Recall: 0.48</a:t>
            </a:r>
          </a:p>
          <a:p>
            <a:r>
              <a:rPr lang="en-US" dirty="0"/>
              <a:t>F1-Score: 0.39</a:t>
            </a:r>
          </a:p>
        </p:txBody>
      </p:sp>
      <p:sp>
        <p:nvSpPr>
          <p:cNvPr id="11" name="TextBox 10">
            <a:extLst>
              <a:ext uri="{FF2B5EF4-FFF2-40B4-BE49-F238E27FC236}">
                <a16:creationId xmlns:a16="http://schemas.microsoft.com/office/drawing/2014/main" id="{E3E55BF5-E729-8AAA-732A-B2EB22724222}"/>
              </a:ext>
            </a:extLst>
          </p:cNvPr>
          <p:cNvSpPr txBox="1"/>
          <p:nvPr/>
        </p:nvSpPr>
        <p:spPr>
          <a:xfrm>
            <a:off x="5802078" y="1502513"/>
            <a:ext cx="4649329" cy="1200329"/>
          </a:xfrm>
          <a:prstGeom prst="rect">
            <a:avLst/>
          </a:prstGeom>
          <a:noFill/>
        </p:spPr>
        <p:txBody>
          <a:bodyPr wrap="square" rtlCol="0">
            <a:spAutoFit/>
          </a:bodyPr>
          <a:lstStyle/>
          <a:p>
            <a:r>
              <a:rPr lang="en-US" dirty="0"/>
              <a:t>Accuracy: 0.92748</a:t>
            </a:r>
          </a:p>
          <a:p>
            <a:r>
              <a:rPr lang="en-US" dirty="0"/>
              <a:t>Precision: 0.75</a:t>
            </a:r>
          </a:p>
          <a:p>
            <a:r>
              <a:rPr lang="en-US" dirty="0"/>
              <a:t>Recall: 0.14</a:t>
            </a:r>
          </a:p>
          <a:p>
            <a:r>
              <a:rPr lang="en-US" dirty="0"/>
              <a:t>F1-Score: 0.24</a:t>
            </a:r>
          </a:p>
        </p:txBody>
      </p:sp>
    </p:spTree>
    <p:extLst>
      <p:ext uri="{BB962C8B-B14F-4D97-AF65-F5344CB8AC3E}">
        <p14:creationId xmlns:p14="http://schemas.microsoft.com/office/powerpoint/2010/main" val="4282169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50BA1D-3E72-7D60-358F-E7B7A984BFC9}"/>
              </a:ext>
            </a:extLst>
          </p:cNvPr>
          <p:cNvSpPr>
            <a:spLocks noGrp="1"/>
          </p:cNvSpPr>
          <p:nvPr>
            <p:ph type="title"/>
          </p:nvPr>
        </p:nvSpPr>
        <p:spPr>
          <a:xfrm>
            <a:off x="612648" y="600074"/>
            <a:ext cx="6035040" cy="1529932"/>
          </a:xfrm>
        </p:spPr>
        <p:txBody>
          <a:bodyPr anchor="b">
            <a:normAutofit/>
          </a:bodyPr>
          <a:lstStyle/>
          <a:p>
            <a:r>
              <a:rPr lang="en-US" dirty="0"/>
              <a:t>Errors and Limitations</a:t>
            </a:r>
          </a:p>
        </p:txBody>
      </p:sp>
      <p:sp>
        <p:nvSpPr>
          <p:cNvPr id="3" name="Content Placeholder 2">
            <a:extLst>
              <a:ext uri="{FF2B5EF4-FFF2-40B4-BE49-F238E27FC236}">
                <a16:creationId xmlns:a16="http://schemas.microsoft.com/office/drawing/2014/main" id="{42641A09-A67B-00F5-597F-AE6FE67BE825}"/>
              </a:ext>
            </a:extLst>
          </p:cNvPr>
          <p:cNvSpPr>
            <a:spLocks noGrp="1"/>
          </p:cNvSpPr>
          <p:nvPr>
            <p:ph idx="1"/>
          </p:nvPr>
        </p:nvSpPr>
        <p:spPr>
          <a:xfrm>
            <a:off x="612647" y="2212848"/>
            <a:ext cx="6035041" cy="4096512"/>
          </a:xfrm>
        </p:spPr>
        <p:txBody>
          <a:bodyPr>
            <a:normAutofit/>
          </a:bodyPr>
          <a:lstStyle/>
          <a:p>
            <a:r>
              <a:rPr lang="en-US" sz="1800" dirty="0"/>
              <a:t>Dataset is highly imbalanced (~8% high-quality)</a:t>
            </a:r>
          </a:p>
          <a:p>
            <a:r>
              <a:rPr lang="en-US" sz="1800" dirty="0"/>
              <a:t>A lot of production features show weak correlation with quality</a:t>
            </a:r>
          </a:p>
          <a:p>
            <a:r>
              <a:rPr lang="en-US" sz="1800" dirty="0"/>
              <a:t>Some features (e.g., Number of Bags) improve prediction but may reflect dataset-specific biases rather than causal relationships.</a:t>
            </a:r>
          </a:p>
        </p:txBody>
      </p:sp>
      <p:pic>
        <p:nvPicPr>
          <p:cNvPr id="6" name="Picture 5" descr="Colorful charts and graphs">
            <a:extLst>
              <a:ext uri="{FF2B5EF4-FFF2-40B4-BE49-F238E27FC236}">
                <a16:creationId xmlns:a16="http://schemas.microsoft.com/office/drawing/2014/main" id="{2D8EC347-CF9E-8DC9-6842-88133B293DAB}"/>
              </a:ext>
            </a:extLst>
          </p:cNvPr>
          <p:cNvPicPr>
            <a:picLocks noChangeAspect="1"/>
          </p:cNvPicPr>
          <p:nvPr/>
        </p:nvPicPr>
        <p:blipFill>
          <a:blip r:embed="rId3"/>
          <a:srcRect l="28466" r="24363" b="-1"/>
          <a:stretch>
            <a:fillRect/>
          </a:stretch>
        </p:blipFill>
        <p:spPr>
          <a:xfrm>
            <a:off x="7345680" y="10"/>
            <a:ext cx="4846320" cy="6857990"/>
          </a:xfrm>
          <a:prstGeom prst="rect">
            <a:avLst/>
          </a:prstGeom>
        </p:spPr>
      </p:pic>
      <p:sp>
        <p:nvSpPr>
          <p:cNvPr id="4" name="Slide Number Placeholder 3">
            <a:extLst>
              <a:ext uri="{FF2B5EF4-FFF2-40B4-BE49-F238E27FC236}">
                <a16:creationId xmlns:a16="http://schemas.microsoft.com/office/drawing/2014/main" id="{81881626-FE75-C3B9-6FD1-EB8F60A6D16B}"/>
              </a:ext>
            </a:extLst>
          </p:cNvPr>
          <p:cNvSpPr>
            <a:spLocks noGrp="1"/>
          </p:cNvSpPr>
          <p:nvPr>
            <p:ph type="sldNum" sz="quarter" idx="12"/>
          </p:nvPr>
        </p:nvSpPr>
        <p:spPr>
          <a:xfrm>
            <a:off x="11632162" y="6453002"/>
            <a:ext cx="429207" cy="365125"/>
          </a:xfrm>
        </p:spPr>
        <p:txBody>
          <a:bodyPr>
            <a:normAutofit/>
          </a:bodyPr>
          <a:lstStyle/>
          <a:p>
            <a:pPr>
              <a:spcAft>
                <a:spcPts val="600"/>
              </a:spcAft>
            </a:pPr>
            <a:fld id="{CC057153-B650-4DEB-B370-79DDCFDCE934}" type="slidenum">
              <a:rPr lang="en-US">
                <a:solidFill>
                  <a:srgbClr val="FFFFFF"/>
                </a:solidFill>
              </a:rPr>
              <a:pPr>
                <a:spcAft>
                  <a:spcPts val="600"/>
                </a:spcAft>
              </a:pPr>
              <a:t>17</a:t>
            </a:fld>
            <a:endParaRPr lang="en-US">
              <a:solidFill>
                <a:srgbClr val="FFFFFF"/>
              </a:solidFill>
            </a:endParaRPr>
          </a:p>
        </p:txBody>
      </p:sp>
    </p:spTree>
    <p:extLst>
      <p:ext uri="{BB962C8B-B14F-4D97-AF65-F5344CB8AC3E}">
        <p14:creationId xmlns:p14="http://schemas.microsoft.com/office/powerpoint/2010/main" val="571535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A32057F-F015-B1B2-4E3E-2307F8EFC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40C379-1A8A-7C83-960D-CF5819E96C1C}"/>
              </a:ext>
            </a:extLst>
          </p:cNvPr>
          <p:cNvSpPr>
            <a:spLocks noGrp="1"/>
          </p:cNvSpPr>
          <p:nvPr>
            <p:ph type="title"/>
          </p:nvPr>
        </p:nvSpPr>
        <p:spPr>
          <a:xfrm>
            <a:off x="7091172" y="204396"/>
            <a:ext cx="4361688" cy="1184584"/>
          </a:xfrm>
        </p:spPr>
        <p:txBody>
          <a:bodyPr vert="horz" lIns="91440" tIns="45720" rIns="91440" bIns="45720" rtlCol="0" anchor="b">
            <a:normAutofit/>
          </a:bodyPr>
          <a:lstStyle/>
          <a:p>
            <a:r>
              <a:rPr lang="en-US" sz="5400" dirty="0"/>
              <a:t>Conclusion</a:t>
            </a:r>
          </a:p>
        </p:txBody>
      </p:sp>
      <p:sp>
        <p:nvSpPr>
          <p:cNvPr id="5" name="TextBox 4">
            <a:extLst>
              <a:ext uri="{FF2B5EF4-FFF2-40B4-BE49-F238E27FC236}">
                <a16:creationId xmlns:a16="http://schemas.microsoft.com/office/drawing/2014/main" id="{CCFA3337-83B1-BABF-0AA8-2D0FE697F0F9}"/>
              </a:ext>
            </a:extLst>
          </p:cNvPr>
          <p:cNvSpPr txBox="1"/>
          <p:nvPr/>
        </p:nvSpPr>
        <p:spPr>
          <a:xfrm>
            <a:off x="7091172" y="5202376"/>
            <a:ext cx="4206240" cy="1184584"/>
          </a:xfrm>
          <a:prstGeom prst="rect">
            <a:avLst/>
          </a:prstGeom>
        </p:spPr>
        <p:txBody>
          <a:bodyPr vert="horz" lIns="91440" tIns="45720" rIns="91440" bIns="45720" rtlCol="0">
            <a:normAutofit/>
          </a:bodyPr>
          <a:lstStyle/>
          <a:p>
            <a:pPr>
              <a:lnSpc>
                <a:spcPct val="120000"/>
              </a:lnSpc>
              <a:spcBef>
                <a:spcPts val="1000"/>
              </a:spcBef>
            </a:pPr>
            <a:r>
              <a:rPr lang="en-US" b="1" dirty="0"/>
              <a:t>Final Takeaway: </a:t>
            </a:r>
            <a:r>
              <a:rPr lang="en-US" dirty="0"/>
              <a:t>Model performance Is limited more by data quality than model choice.</a:t>
            </a:r>
            <a:endParaRPr lang="en-US" b="1" dirty="0"/>
          </a:p>
        </p:txBody>
      </p:sp>
      <p:pic>
        <p:nvPicPr>
          <p:cNvPr id="7" name="Picture 6" descr="Coffee on a white cup on a wooden table">
            <a:extLst>
              <a:ext uri="{FF2B5EF4-FFF2-40B4-BE49-F238E27FC236}">
                <a16:creationId xmlns:a16="http://schemas.microsoft.com/office/drawing/2014/main" id="{3B245AE3-3849-A2D4-CE46-5A2A3E8CCDDB}"/>
              </a:ext>
            </a:extLst>
          </p:cNvPr>
          <p:cNvPicPr>
            <a:picLocks noChangeAspect="1"/>
          </p:cNvPicPr>
          <p:nvPr/>
        </p:nvPicPr>
        <p:blipFill>
          <a:blip r:embed="rId3">
            <a:extLst>
              <a:ext uri="{28A0092B-C50C-407E-A947-70E740481C1C}">
                <a14:useLocalDpi xmlns:a14="http://schemas.microsoft.com/office/drawing/2010/main" val="0"/>
              </a:ext>
            </a:extLst>
          </a:blip>
          <a:srcRect l="17869" r="10457" b="-2"/>
          <a:stretch>
            <a:fillRect/>
          </a:stretch>
        </p:blipFill>
        <p:spPr>
          <a:xfrm>
            <a:off x="20" y="1"/>
            <a:ext cx="6575591" cy="6858000"/>
          </a:xfrm>
          <a:prstGeom prst="rect">
            <a:avLst/>
          </a:prstGeom>
        </p:spPr>
      </p:pic>
      <p:sp>
        <p:nvSpPr>
          <p:cNvPr id="4" name="Slide Number Placeholder 3">
            <a:extLst>
              <a:ext uri="{FF2B5EF4-FFF2-40B4-BE49-F238E27FC236}">
                <a16:creationId xmlns:a16="http://schemas.microsoft.com/office/drawing/2014/main" id="{4B455506-F42F-5AA9-0C05-64EE1D781327}"/>
              </a:ext>
            </a:extLst>
          </p:cNvPr>
          <p:cNvSpPr>
            <a:spLocks noGrp="1"/>
          </p:cNvSpPr>
          <p:nvPr>
            <p:ph type="sldNum" sz="quarter" idx="12"/>
          </p:nvPr>
        </p:nvSpPr>
        <p:spPr>
          <a:xfrm>
            <a:off x="11632162" y="6453002"/>
            <a:ext cx="429207"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18</a:t>
            </a:fld>
            <a:endParaRPr lang="en-US"/>
          </a:p>
        </p:txBody>
      </p:sp>
      <p:sp>
        <p:nvSpPr>
          <p:cNvPr id="10" name="Content Placeholder 2">
            <a:extLst>
              <a:ext uri="{FF2B5EF4-FFF2-40B4-BE49-F238E27FC236}">
                <a16:creationId xmlns:a16="http://schemas.microsoft.com/office/drawing/2014/main" id="{54EE65BD-F52E-B977-80EA-4F1CBCA8348C}"/>
              </a:ext>
            </a:extLst>
          </p:cNvPr>
          <p:cNvSpPr txBox="1">
            <a:spLocks/>
          </p:cNvSpPr>
          <p:nvPr/>
        </p:nvSpPr>
        <p:spPr>
          <a:xfrm>
            <a:off x="6958389" y="1593376"/>
            <a:ext cx="4850833" cy="313796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Coffee quality is difficult to predict using production features alone</a:t>
            </a:r>
          </a:p>
          <a:p>
            <a:r>
              <a:rPr lang="en-US" dirty="0"/>
              <a:t>Regression models showed limited predictive power (low R^2)</a:t>
            </a:r>
          </a:p>
          <a:p>
            <a:r>
              <a:rPr lang="en-US" dirty="0"/>
              <a:t>Classification improved with hyperparameter tuning</a:t>
            </a:r>
          </a:p>
          <a:p>
            <a:r>
              <a:rPr lang="en-US" dirty="0"/>
              <a:t>Tree based models captured nonlinear relationships better than linear models</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523779300"/>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918E02790C64409B0DE6A337318CB9" ma:contentTypeVersion="16" ma:contentTypeDescription="Create a new document." ma:contentTypeScope="" ma:versionID="20bdff107f87136b5a3c27c18ae32166">
  <xsd:schema xmlns:xsd="http://www.w3.org/2001/XMLSchema" xmlns:xs="http://www.w3.org/2001/XMLSchema" xmlns:p="http://schemas.microsoft.com/office/2006/metadata/properties" xmlns:ns3="0a499cae-3978-4222-8d5c-a97412d14483" xmlns:ns4="04fa2bf3-c019-490a-977d-4909a20b73a2" targetNamespace="http://schemas.microsoft.com/office/2006/metadata/properties" ma:root="true" ma:fieldsID="bcd04912629dbe8e63360cd61fb1a8ad" ns3:_="" ns4:_="">
    <xsd:import namespace="0a499cae-3978-4222-8d5c-a97412d14483"/>
    <xsd:import namespace="04fa2bf3-c019-490a-977d-4909a20b73a2"/>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ServiceBillingMetadata"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499cae-3978-4222-8d5c-a97412d14483"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4fa2bf3-c019-490a-977d-4909a20b73a2"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a499cae-3978-4222-8d5c-a97412d14483" xsi:nil="true"/>
  </documentManagement>
</p:properties>
</file>

<file path=customXml/itemProps1.xml><?xml version="1.0" encoding="utf-8"?>
<ds:datastoreItem xmlns:ds="http://schemas.openxmlformats.org/officeDocument/2006/customXml" ds:itemID="{077AE3AF-4343-4C6D-8CCE-9C126C88CE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499cae-3978-4222-8d5c-a97412d14483"/>
    <ds:schemaRef ds:uri="04fa2bf3-c019-490a-977d-4909a20b73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6901E15-EEE0-49A9-BF3C-5F1E8D0750BC}">
  <ds:schemaRefs>
    <ds:schemaRef ds:uri="http://schemas.microsoft.com/sharepoint/v3/contenttype/forms"/>
  </ds:schemaRefs>
</ds:datastoreItem>
</file>

<file path=customXml/itemProps3.xml><?xml version="1.0" encoding="utf-8"?>
<ds:datastoreItem xmlns:ds="http://schemas.openxmlformats.org/officeDocument/2006/customXml" ds:itemID="{8F8FE1D8-F764-4A6D-8A61-BBBABB7B8D77}">
  <ds:schemaRefs>
    <ds:schemaRef ds:uri="http://purl.org/dc/dcmitype/"/>
    <ds:schemaRef ds:uri="http://schemas.microsoft.com/office/infopath/2007/PartnerControls"/>
    <ds:schemaRef ds:uri="04fa2bf3-c019-490a-977d-4909a20b73a2"/>
    <ds:schemaRef ds:uri="http://schemas.microsoft.com/office/2006/documentManagement/types"/>
    <ds:schemaRef ds:uri="http://purl.org/dc/elements/1.1/"/>
    <ds:schemaRef ds:uri="http://schemas.openxmlformats.org/package/2006/metadata/core-properties"/>
    <ds:schemaRef ds:uri="0a499cae-3978-4222-8d5c-a97412d14483"/>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3784</TotalTime>
  <Words>2033</Words>
  <Application>Microsoft Office PowerPoint</Application>
  <PresentationFormat>Widescreen</PresentationFormat>
  <Paragraphs>224</Paragraphs>
  <Slides>18</Slides>
  <Notes>18</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Narrow</vt:lpstr>
      <vt:lpstr>Arial</vt:lpstr>
      <vt:lpstr>Neue Haas Grotesk Text Pro</vt:lpstr>
      <vt:lpstr>VanillaVTI</vt:lpstr>
      <vt:lpstr>Predicting Global Coffee Quality Using Machine Learning </vt:lpstr>
      <vt:lpstr>Problem Definition</vt:lpstr>
      <vt:lpstr>Why This Matters</vt:lpstr>
      <vt:lpstr>Methodology and Model Choice</vt:lpstr>
      <vt:lpstr>Research Questions: What are we trying to find?</vt:lpstr>
      <vt:lpstr>The Data</vt:lpstr>
      <vt:lpstr>Statistical Baseline</vt:lpstr>
      <vt:lpstr>XGBoost: Regression and Classification</vt:lpstr>
      <vt:lpstr>XGBoost: Regression Model</vt:lpstr>
      <vt:lpstr>XGBoost: Classification Model</vt:lpstr>
      <vt:lpstr>Hyperparameter Tuning For XGBoost Classifier</vt:lpstr>
      <vt:lpstr>Random Forests: Regression and Classification</vt:lpstr>
      <vt:lpstr>Random Forest: Regression Model</vt:lpstr>
      <vt:lpstr>Random Forest: Classification Model</vt:lpstr>
      <vt:lpstr>Comparison of XGBoost and RF Regression Models</vt:lpstr>
      <vt:lpstr>Comparison of XGBoost and RF Classification Models</vt:lpstr>
      <vt:lpstr>Errors and Limitations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Lindsey Bowen</dc:creator>
  <cp:lastModifiedBy>Lindsey Bowen</cp:lastModifiedBy>
  <cp:revision>10</cp:revision>
  <dcterms:created xsi:type="dcterms:W3CDTF">2026-04-19T22:22:06Z</dcterms:created>
  <dcterms:modified xsi:type="dcterms:W3CDTF">2026-04-22T14:02:57Z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0x010100DE918E02790C64409B0DE6A337318CB9</vt:lpwstr>
  </property>
</Properties>
</file>